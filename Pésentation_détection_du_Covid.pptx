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Montserrat SemiBold"/>
      <p:regular r:id="rId34"/>
      <p:bold r:id="rId35"/>
      <p:italic r:id="rId36"/>
      <p:boldItalic r:id="rId37"/>
    </p:embeddedFont>
    <p:embeddedFont>
      <p:font typeface="Roboto"/>
      <p:regular r:id="rId38"/>
      <p:bold r:id="rId39"/>
      <p:italic r:id="rId40"/>
      <p:boldItalic r:id="rId41"/>
    </p:embeddedFont>
    <p:embeddedFont>
      <p:font typeface="Montserrat"/>
      <p:regular r:id="rId42"/>
      <p:bold r:id="rId43"/>
      <p:italic r:id="rId44"/>
      <p:boldItalic r:id="rId45"/>
    </p:embeddedFont>
    <p:embeddedFont>
      <p:font typeface="Lato"/>
      <p:regular r:id="rId46"/>
      <p:bold r:id="rId47"/>
      <p:italic r:id="rId48"/>
      <p:boldItalic r:id="rId49"/>
    </p:embeddedFont>
    <p:embeddedFont>
      <p:font typeface="Fira Sans Condensed"/>
      <p:regular r:id="rId50"/>
      <p:bold r:id="rId51"/>
      <p:italic r:id="rId52"/>
      <p:boldItalic r:id="rId53"/>
    </p:embeddedFont>
    <p:embeddedFont>
      <p:font typeface="Fira Sans Extra Condensed"/>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g+hHTM3CRphBQ9asZZeywgpLz1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D14D85-F841-4C2D-BC02-5365E79DA365}">
  <a:tblStyle styleId="{8AD14D85-F841-4C2D-BC02-5365E79DA36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E2C3A9E-5F90-42D1-9D69-29F0247E3D6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42" Type="http://schemas.openxmlformats.org/officeDocument/2006/relationships/font" Target="fonts/Montserrat-regular.fntdata"/><Relationship Id="rId41" Type="http://schemas.openxmlformats.org/officeDocument/2006/relationships/font" Target="fonts/Roboto-boldItalic.fntdata"/><Relationship Id="rId44" Type="http://schemas.openxmlformats.org/officeDocument/2006/relationships/font" Target="fonts/Montserrat-italic.fntdata"/><Relationship Id="rId43" Type="http://schemas.openxmlformats.org/officeDocument/2006/relationships/font" Target="fonts/Montserrat-bold.fntdata"/><Relationship Id="rId46" Type="http://schemas.openxmlformats.org/officeDocument/2006/relationships/font" Target="fonts/Lato-regular.fntdata"/><Relationship Id="rId45"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italic.fntdata"/><Relationship Id="rId47" Type="http://schemas.openxmlformats.org/officeDocument/2006/relationships/font" Target="fonts/Lato-bold.fntdata"/><Relationship Id="rId49"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MontserratSemiBold-bold.fntdata"/><Relationship Id="rId34" Type="http://schemas.openxmlformats.org/officeDocument/2006/relationships/font" Target="fonts/MontserratSemiBold-regular.fntdata"/><Relationship Id="rId37" Type="http://schemas.openxmlformats.org/officeDocument/2006/relationships/font" Target="fonts/MontserratSemiBold-boldItalic.fntdata"/><Relationship Id="rId36" Type="http://schemas.openxmlformats.org/officeDocument/2006/relationships/font" Target="fonts/MontserratSemiBold-italic.fntdata"/><Relationship Id="rId39" Type="http://schemas.openxmlformats.org/officeDocument/2006/relationships/font" Target="fonts/Roboto-bold.fntdata"/><Relationship Id="rId38" Type="http://schemas.openxmlformats.org/officeDocument/2006/relationships/font" Target="fonts/Robot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FiraSansCondensed-bold.fntdata"/><Relationship Id="rId50" Type="http://schemas.openxmlformats.org/officeDocument/2006/relationships/font" Target="fonts/FiraSansCondensed-regular.fntdata"/><Relationship Id="rId53" Type="http://schemas.openxmlformats.org/officeDocument/2006/relationships/font" Target="fonts/FiraSansCondensed-boldItalic.fntdata"/><Relationship Id="rId52" Type="http://schemas.openxmlformats.org/officeDocument/2006/relationships/font" Target="fonts/FiraSansCondensed-italic.fntdata"/><Relationship Id="rId11" Type="http://schemas.openxmlformats.org/officeDocument/2006/relationships/slide" Target="slides/slide6.xml"/><Relationship Id="rId55" Type="http://schemas.openxmlformats.org/officeDocument/2006/relationships/font" Target="fonts/FiraSansExtraCondensed-bold.fntdata"/><Relationship Id="rId10" Type="http://schemas.openxmlformats.org/officeDocument/2006/relationships/slide" Target="slides/slide5.xml"/><Relationship Id="rId54" Type="http://schemas.openxmlformats.org/officeDocument/2006/relationships/font" Target="fonts/FiraSansExtraCondensed-regular.fntdata"/><Relationship Id="rId13" Type="http://schemas.openxmlformats.org/officeDocument/2006/relationships/slide" Target="slides/slide8.xml"/><Relationship Id="rId57" Type="http://schemas.openxmlformats.org/officeDocument/2006/relationships/font" Target="fonts/FiraSansExtraCondensed-boldItalic.fntdata"/><Relationship Id="rId12" Type="http://schemas.openxmlformats.org/officeDocument/2006/relationships/slide" Target="slides/slide7.xml"/><Relationship Id="rId56" Type="http://schemas.openxmlformats.org/officeDocument/2006/relationships/font" Target="fonts/FiraSansExtraCondensed-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d95ce296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d95ce296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dc9214267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dc9214267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d95ce2960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9d95ce2960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d95ce296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d95ce296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dc9214267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dc9214267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dc9214267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dc9214267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dc921426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9dc921426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d95ce296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d95ce296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d95ce296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9d95ce296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d95ce296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9d95ce296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dc921426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dc921426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dc921426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dc921426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9dc921426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9dc921426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dc921426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9dc921426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dc921426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dc921426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dc921426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9dc921426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dc921426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9dc921426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9d95ce296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9d95ce296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d95ce2960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39d95ce2960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d95ce296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d95ce296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FR">
                <a:solidFill>
                  <a:schemeClr val="dk1"/>
                </a:solidFill>
              </a:rPr>
              <a:t>Nous avons utilisé pour cette tâche deux algorithmes : </a:t>
            </a:r>
            <a:r>
              <a:rPr b="1" lang="fr-FR">
                <a:solidFill>
                  <a:schemeClr val="dk1"/>
                </a:solidFill>
              </a:rPr>
              <a:t>LIME</a:t>
            </a:r>
            <a:r>
              <a:rPr lang="fr-FR">
                <a:solidFill>
                  <a:schemeClr val="dk1"/>
                </a:solidFill>
              </a:rPr>
              <a:t> et </a:t>
            </a:r>
            <a:r>
              <a:rPr b="1" lang="fr-FR">
                <a:solidFill>
                  <a:schemeClr val="dk1"/>
                </a:solidFill>
              </a:rPr>
              <a:t>Grad-CAM</a:t>
            </a:r>
            <a:r>
              <a:rPr lang="fr-FR">
                <a:solidFill>
                  <a:schemeClr val="dk1"/>
                </a:solidFill>
              </a:rPr>
              <a:t>.</a:t>
            </a:r>
            <a:endParaRPr>
              <a:solidFill>
                <a:schemeClr val="dk1"/>
              </a:solidFill>
            </a:endParaRPr>
          </a:p>
          <a:p>
            <a:pPr indent="0" lvl="0" marL="0" rtl="0" algn="l">
              <a:spcBef>
                <a:spcPts val="0"/>
              </a:spcBef>
              <a:spcAft>
                <a:spcPts val="0"/>
              </a:spcAft>
              <a:buNone/>
            </a:pPr>
            <a:r>
              <a:rPr lang="fr-FR">
                <a:solidFill>
                  <a:schemeClr val="dk1"/>
                </a:solidFill>
              </a:rPr>
              <a:t>Commençons par </a:t>
            </a:r>
            <a:r>
              <a:rPr b="1" lang="fr-FR">
                <a:solidFill>
                  <a:schemeClr val="dk1"/>
                </a:solidFill>
              </a:rPr>
              <a:t>LIME</a:t>
            </a:r>
            <a:r>
              <a:rPr lang="fr-FR">
                <a:solidFill>
                  <a:schemeClr val="dk1"/>
                </a:solidFill>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9d95ce296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9d95ce296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fr-FR">
                <a:solidFill>
                  <a:schemeClr val="dk1"/>
                </a:solidFill>
              </a:rPr>
              <a:t>La première image représente l’image sur laquelle le modèle doit prédire si la personne est atteinte de la COVID-19 ou non.</a:t>
            </a:r>
            <a:br>
              <a:rPr lang="fr-FR">
                <a:solidFill>
                  <a:schemeClr val="dk1"/>
                </a:solidFill>
              </a:rPr>
            </a:br>
            <a:r>
              <a:rPr lang="fr-FR">
                <a:solidFill>
                  <a:schemeClr val="dk1"/>
                </a:solidFill>
              </a:rPr>
              <a:t> alors que le modèle a prédit qu’il s’agissait du </a:t>
            </a:r>
            <a:r>
              <a:rPr b="1" lang="fr-FR">
                <a:solidFill>
                  <a:schemeClr val="dk1"/>
                </a:solidFill>
              </a:rPr>
              <a:t>COVID-19</a:t>
            </a:r>
            <a:endParaRPr b="1">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fr-FR">
                <a:solidFill>
                  <a:schemeClr val="dk1"/>
                </a:solidFill>
              </a:rPr>
              <a:t>Ensuite, nous avons appliqué </a:t>
            </a:r>
            <a:r>
              <a:rPr b="1" lang="fr-FR">
                <a:solidFill>
                  <a:schemeClr val="dk1"/>
                </a:solidFill>
              </a:rPr>
              <a:t>LIME</a:t>
            </a:r>
            <a:r>
              <a:rPr lang="fr-FR">
                <a:solidFill>
                  <a:schemeClr val="dk1"/>
                </a:solidFill>
              </a:rPr>
              <a:t> pour identifier les zones de l’image qui ont le plus contribué à cette prédiction.</a:t>
            </a:r>
            <a:endParaRPr>
              <a:solidFill>
                <a:schemeClr val="dk1"/>
              </a:solidFill>
            </a:endParaRPr>
          </a:p>
          <a:p>
            <a:pPr indent="0" lvl="0" marL="0" rtl="0" algn="l">
              <a:lnSpc>
                <a:spcPct val="115000"/>
              </a:lnSpc>
              <a:spcBef>
                <a:spcPts val="1200"/>
              </a:spcBef>
              <a:spcAft>
                <a:spcPts val="0"/>
              </a:spcAft>
              <a:buNone/>
            </a:pPr>
            <a:r>
              <a:rPr lang="fr-FR">
                <a:solidFill>
                  <a:schemeClr val="dk1"/>
                </a:solidFill>
              </a:rPr>
              <a:t>Dans l’image suivante, on sélectionne les trois zones qui favorisent la prédiction de la classe COVID.</a:t>
            </a:r>
            <a:endParaRPr>
              <a:solidFill>
                <a:schemeClr val="dk1"/>
              </a:solidFill>
            </a:endParaRPr>
          </a:p>
          <a:p>
            <a:pPr indent="0" lvl="0" marL="0" rtl="0" algn="l">
              <a:lnSpc>
                <a:spcPct val="115000"/>
              </a:lnSpc>
              <a:spcBef>
                <a:spcPts val="1200"/>
              </a:spcBef>
              <a:spcAft>
                <a:spcPts val="0"/>
              </a:spcAft>
              <a:buNone/>
            </a:pPr>
            <a:br>
              <a:rPr lang="fr-FR">
                <a:solidFill>
                  <a:schemeClr val="dk1"/>
                </a:solidFill>
              </a:rPr>
            </a:br>
            <a:r>
              <a:rPr lang="fr-FR">
                <a:solidFill>
                  <a:schemeClr val="dk1"/>
                </a:solidFill>
              </a:rPr>
              <a:t> Sur l’image suivante,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fr-FR">
                <a:solidFill>
                  <a:schemeClr val="dk1"/>
                </a:solidFill>
              </a:rPr>
              <a:t>les </a:t>
            </a:r>
            <a:r>
              <a:rPr b="1" lang="fr-FR">
                <a:solidFill>
                  <a:schemeClr val="dk1"/>
                </a:solidFill>
              </a:rPr>
              <a:t>zones vertes</a:t>
            </a:r>
            <a:r>
              <a:rPr lang="fr-FR">
                <a:solidFill>
                  <a:schemeClr val="dk1"/>
                </a:solidFill>
              </a:rPr>
              <a:t> augmentent la probabilité de la classe prédite (on detecte troi zones),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fr-FR">
                <a:solidFill>
                  <a:schemeClr val="dk1"/>
                </a:solidFill>
              </a:rPr>
              <a:t>tandis que les </a:t>
            </a:r>
            <a:r>
              <a:rPr b="1" lang="fr-FR">
                <a:solidFill>
                  <a:schemeClr val="dk1"/>
                </a:solidFill>
              </a:rPr>
              <a:t>zones rouges</a:t>
            </a:r>
            <a:r>
              <a:rPr lang="fr-FR">
                <a:solidFill>
                  <a:schemeClr val="dk1"/>
                </a:solidFill>
              </a:rPr>
              <a:t> diminuent cette probabilité (elles contredisent la décision du modèle).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9dc9214267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9dc9214267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FR">
                <a:solidFill>
                  <a:schemeClr val="dk1"/>
                </a:solidFill>
              </a:rPr>
              <a:t>Nous visualisons ensuite une </a:t>
            </a:r>
            <a:r>
              <a:rPr b="1" lang="fr-FR">
                <a:solidFill>
                  <a:schemeClr val="dk1"/>
                </a:solidFill>
              </a:rPr>
              <a:t>heatmap</a:t>
            </a:r>
            <a:r>
              <a:rPr lang="fr-FR">
                <a:solidFill>
                  <a:schemeClr val="dk1"/>
                </a:solidFill>
              </a:rPr>
              <a:t> dégradée du rouge au vert, qui met en évidence ces zones sur l’ensemble de l’image.</a:t>
            </a:r>
            <a:endParaRPr>
              <a:solidFill>
                <a:schemeClr val="dk1"/>
              </a:solidFill>
            </a:endParaRPr>
          </a:p>
          <a:p>
            <a:pPr indent="0" lvl="0" marL="0" rtl="0" algn="l">
              <a:spcBef>
                <a:spcPts val="0"/>
              </a:spcBef>
              <a:spcAft>
                <a:spcPts val="0"/>
              </a:spcAft>
              <a:buNone/>
            </a:pPr>
            <a:r>
              <a:rPr lang="fr-FR">
                <a:solidFill>
                  <a:schemeClr val="dk1"/>
                </a:solidFill>
              </a:rPr>
              <a:t>On peut observer que presque toute l’image est colorée : les zones vertes et rouges se superposent, ce qui montre les régions d’intérêt principales du modèle.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d95ce296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d95ce296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fr-FR">
                <a:solidFill>
                  <a:schemeClr val="dk1"/>
                </a:solidFill>
              </a:rPr>
              <a:t>Passons maintenant à </a:t>
            </a:r>
            <a:r>
              <a:rPr b="1" lang="fr-FR">
                <a:solidFill>
                  <a:schemeClr val="dk1"/>
                </a:solidFill>
              </a:rPr>
              <a:t>Grad-CAM</a:t>
            </a:r>
            <a:r>
              <a:rPr lang="fr-FR">
                <a:solidFill>
                  <a:schemeClr val="dk1"/>
                </a:solidFill>
              </a:rPr>
              <a:t>.</a:t>
            </a:r>
            <a:br>
              <a:rPr lang="fr-FR">
                <a:solidFill>
                  <a:schemeClr val="dk1"/>
                </a:solidFill>
              </a:rPr>
            </a:br>
            <a:r>
              <a:rPr lang="fr-FR">
                <a:solidFill>
                  <a:schemeClr val="dk1"/>
                </a:solidFill>
              </a:rPr>
              <a:t> Grad-CAM génère un(heatmap) indiquant quelles zones de l’image ont le plus influencé la décision du modèle pour une classe donnée.</a:t>
            </a:r>
            <a:endParaRPr>
              <a:solidFill>
                <a:schemeClr val="dk1"/>
              </a:solidFill>
            </a:endParaRPr>
          </a:p>
          <a:p>
            <a:pPr indent="0" lvl="0" marL="0" rtl="0" algn="l">
              <a:lnSpc>
                <a:spcPct val="115000"/>
              </a:lnSpc>
              <a:spcBef>
                <a:spcPts val="1200"/>
              </a:spcBef>
              <a:spcAft>
                <a:spcPts val="0"/>
              </a:spcAft>
              <a:buNone/>
            </a:pPr>
            <a:r>
              <a:rPr lang="fr-FR">
                <a:solidFill>
                  <a:schemeClr val="dk1"/>
                </a:solidFill>
              </a:rPr>
              <a:t>Pour bien comprendre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fr-FR">
                <a:solidFill>
                  <a:schemeClr val="dk1"/>
                </a:solidFill>
              </a:rPr>
              <a:t>Les </a:t>
            </a:r>
            <a:r>
              <a:rPr b="1" lang="fr-FR">
                <a:solidFill>
                  <a:schemeClr val="dk1"/>
                </a:solidFill>
              </a:rPr>
              <a:t>zones rouges ou chaudes</a:t>
            </a:r>
            <a:r>
              <a:rPr lang="fr-FR">
                <a:solidFill>
                  <a:schemeClr val="dk1"/>
                </a:solidFill>
              </a:rPr>
              <a:t> représentent les régions les plus importantes pour la prédiction.</a:t>
            </a:r>
            <a:br>
              <a:rPr lang="fr-FR">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fr-FR">
                <a:solidFill>
                  <a:schemeClr val="dk1"/>
                </a:solidFill>
              </a:rPr>
              <a:t>Les </a:t>
            </a:r>
            <a:r>
              <a:rPr b="1" lang="fr-FR">
                <a:solidFill>
                  <a:schemeClr val="dk1"/>
                </a:solidFill>
              </a:rPr>
              <a:t>zones jaunes ou orangées</a:t>
            </a:r>
            <a:r>
              <a:rPr lang="fr-FR">
                <a:solidFill>
                  <a:schemeClr val="dk1"/>
                </a:solidFill>
              </a:rPr>
              <a:t> indiquent des régions modérément importantes.</a:t>
            </a:r>
            <a:br>
              <a:rPr lang="fr-FR">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fr-FR">
                <a:solidFill>
                  <a:schemeClr val="dk1"/>
                </a:solidFill>
              </a:rPr>
              <a:t>Les </a:t>
            </a:r>
            <a:r>
              <a:rPr b="1" lang="fr-FR">
                <a:solidFill>
                  <a:schemeClr val="dk1"/>
                </a:solidFill>
              </a:rPr>
              <a:t>zones bleues ou froides</a:t>
            </a:r>
            <a:r>
              <a:rPr lang="fr-FR">
                <a:solidFill>
                  <a:schemeClr val="dk1"/>
                </a:solidFill>
              </a:rPr>
              <a:t> correspondent à des régions peu ou pas importantes pour la décision du modèle.</a:t>
            </a:r>
            <a:br>
              <a:rPr lang="fr-FR">
                <a:solidFill>
                  <a:schemeClr val="dk1"/>
                </a:solidFill>
              </a:rPr>
            </a:br>
            <a:endParaRPr>
              <a:solidFill>
                <a:schemeClr val="dk1"/>
              </a:solidFill>
            </a:endParaRPr>
          </a:p>
          <a:p>
            <a:pPr indent="0" lvl="0" marL="0" rtl="0" algn="l">
              <a:lnSpc>
                <a:spcPct val="115000"/>
              </a:lnSpc>
              <a:spcBef>
                <a:spcPts val="1200"/>
              </a:spcBef>
              <a:spcAft>
                <a:spcPts val="0"/>
              </a:spcAft>
              <a:buNone/>
            </a:pPr>
            <a:r>
              <a:rPr lang="fr-FR">
                <a:solidFill>
                  <a:schemeClr val="dk1"/>
                </a:solidFill>
              </a:rPr>
              <a:t>En visualisant ces résultats sur l’image, on remarque que les </a:t>
            </a:r>
            <a:r>
              <a:rPr b="1" lang="fr-FR">
                <a:solidFill>
                  <a:schemeClr val="dk1"/>
                </a:solidFill>
              </a:rPr>
              <a:t>zones rouges</a:t>
            </a:r>
            <a:r>
              <a:rPr lang="fr-FR">
                <a:solidFill>
                  <a:schemeClr val="dk1"/>
                </a:solidFill>
              </a:rPr>
              <a:t> se situent principalement au niveau du </a:t>
            </a:r>
            <a:r>
              <a:rPr b="1" lang="fr-FR">
                <a:solidFill>
                  <a:schemeClr val="dk1"/>
                </a:solidFill>
              </a:rPr>
              <a:t>poumon gauche</a:t>
            </a:r>
            <a:r>
              <a:rPr lang="fr-FR">
                <a:solidFill>
                  <a:schemeClr val="dk1"/>
                </a:solidFill>
              </a:rPr>
              <a:t>, avec une petite zone jaune sur le </a:t>
            </a:r>
            <a:r>
              <a:rPr b="1" lang="fr-FR">
                <a:solidFill>
                  <a:schemeClr val="dk1"/>
                </a:solidFill>
              </a:rPr>
              <a:t>poumon droit</a:t>
            </a:r>
            <a:r>
              <a:rPr lang="fr-FR">
                <a:solidFill>
                  <a:schemeClr val="dk1"/>
                </a:solidFill>
              </a:rPr>
              <a:t>.</a:t>
            </a:r>
            <a:br>
              <a:rPr lang="fr-FR">
                <a:solidFill>
                  <a:schemeClr val="dk1"/>
                </a:solidFill>
              </a:rPr>
            </a:br>
            <a:r>
              <a:rPr lang="fr-FR">
                <a:solidFill>
                  <a:schemeClr val="dk1"/>
                </a:solidFill>
              </a:rPr>
              <a:t> Les </a:t>
            </a:r>
            <a:r>
              <a:rPr b="1" lang="fr-FR">
                <a:solidFill>
                  <a:schemeClr val="dk1"/>
                </a:solidFill>
              </a:rPr>
              <a:t>zones bleues</a:t>
            </a:r>
            <a:r>
              <a:rPr lang="fr-FR">
                <a:solidFill>
                  <a:schemeClr val="dk1"/>
                </a:solidFill>
              </a:rPr>
              <a:t> apparaissent sur le fond, le thorax et les bords de l’image — des zones qui n’ont </a:t>
            </a:r>
            <a:r>
              <a:rPr b="1" lang="fr-FR">
                <a:solidFill>
                  <a:schemeClr val="dk1"/>
                </a:solidFill>
              </a:rPr>
              <a:t>aucune importance pour le modèle</a:t>
            </a:r>
            <a:r>
              <a:rPr lang="fr-FR">
                <a:solidFill>
                  <a:schemeClr val="dk1"/>
                </a:solidFill>
              </a:rPr>
              <a:t>.</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dc9214267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39dc9214267_2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34"/>
          <p:cNvGrpSpPr/>
          <p:nvPr/>
        </p:nvGrpSpPr>
        <p:grpSpPr>
          <a:xfrm>
            <a:off x="0" y="121275"/>
            <a:ext cx="9473394" cy="5326992"/>
            <a:chOff x="0" y="1733"/>
            <a:chExt cx="9144203" cy="5141884"/>
          </a:xfrm>
        </p:grpSpPr>
        <p:sp>
          <p:nvSpPr>
            <p:cNvPr id="11" name="Google Shape;11;p34"/>
            <p:cNvSpPr/>
            <p:nvPr/>
          </p:nvSpPr>
          <p:spPr>
            <a:xfrm>
              <a:off x="0" y="1733"/>
              <a:ext cx="9144203" cy="5141884"/>
            </a:xfrm>
            <a:custGeom>
              <a:rect b="b" l="l" r="r" t="t"/>
              <a:pathLst>
                <a:path extrusionOk="0" h="160709" w="285801">
                  <a:moveTo>
                    <a:pt x="35480" y="1"/>
                  </a:moveTo>
                  <a:cubicBezTo>
                    <a:pt x="19051" y="1"/>
                    <a:pt x="7565" y="3138"/>
                    <a:pt x="1" y="6459"/>
                  </a:cubicBezTo>
                  <a:lnTo>
                    <a:pt x="1" y="160709"/>
                  </a:lnTo>
                  <a:lnTo>
                    <a:pt x="285801" y="160709"/>
                  </a:lnTo>
                  <a:lnTo>
                    <a:pt x="285801" y="140493"/>
                  </a:lnTo>
                  <a:cubicBezTo>
                    <a:pt x="279489" y="138824"/>
                    <a:pt x="272825" y="137042"/>
                    <a:pt x="265622" y="136377"/>
                  </a:cubicBezTo>
                  <a:cubicBezTo>
                    <a:pt x="149219" y="125484"/>
                    <a:pt x="131538" y="89720"/>
                    <a:pt x="111673" y="56968"/>
                  </a:cubicBezTo>
                  <a:cubicBezTo>
                    <a:pt x="101144" y="39625"/>
                    <a:pt x="83174" y="2330"/>
                    <a:pt x="42742" y="197"/>
                  </a:cubicBezTo>
                  <a:cubicBezTo>
                    <a:pt x="40221" y="63"/>
                    <a:pt x="37801" y="1"/>
                    <a:pt x="35480"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4"/>
            <p:cNvSpPr/>
            <p:nvPr/>
          </p:nvSpPr>
          <p:spPr>
            <a:xfrm>
              <a:off x="0" y="214400"/>
              <a:ext cx="9144203" cy="4928945"/>
            </a:xfrm>
            <a:custGeom>
              <a:rect b="b" l="l" r="r" t="t"/>
              <a:pathLst>
                <a:path extrusionOk="0" h="160709" w="285801">
                  <a:moveTo>
                    <a:pt x="35480" y="1"/>
                  </a:moveTo>
                  <a:cubicBezTo>
                    <a:pt x="19051" y="1"/>
                    <a:pt x="7565" y="3138"/>
                    <a:pt x="1" y="6459"/>
                  </a:cubicBezTo>
                  <a:lnTo>
                    <a:pt x="1" y="160709"/>
                  </a:lnTo>
                  <a:lnTo>
                    <a:pt x="285801" y="160709"/>
                  </a:lnTo>
                  <a:lnTo>
                    <a:pt x="285801" y="140493"/>
                  </a:lnTo>
                  <a:cubicBezTo>
                    <a:pt x="279489" y="138824"/>
                    <a:pt x="272825" y="137042"/>
                    <a:pt x="265622" y="136377"/>
                  </a:cubicBezTo>
                  <a:cubicBezTo>
                    <a:pt x="149219" y="125484"/>
                    <a:pt x="131538" y="89720"/>
                    <a:pt x="111673" y="56968"/>
                  </a:cubicBezTo>
                  <a:cubicBezTo>
                    <a:pt x="101144" y="39625"/>
                    <a:pt x="83174" y="2330"/>
                    <a:pt x="42742" y="197"/>
                  </a:cubicBezTo>
                  <a:cubicBezTo>
                    <a:pt x="40221" y="63"/>
                    <a:pt x="37801" y="1"/>
                    <a:pt x="35480"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 name="Google Shape;13;p34"/>
          <p:cNvSpPr txBox="1"/>
          <p:nvPr>
            <p:ph type="ctrTitle"/>
          </p:nvPr>
        </p:nvSpPr>
        <p:spPr>
          <a:xfrm>
            <a:off x="720000" y="1603525"/>
            <a:ext cx="2737800" cy="1614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34"/>
          <p:cNvSpPr txBox="1"/>
          <p:nvPr>
            <p:ph idx="1" type="subTitle"/>
          </p:nvPr>
        </p:nvSpPr>
        <p:spPr>
          <a:xfrm>
            <a:off x="720000" y="3444325"/>
            <a:ext cx="2737800" cy="792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263238"/>
              </a:buClr>
              <a:buSzPts val="2800"/>
              <a:buNone/>
              <a:defRPr sz="2200"/>
            </a:lvl1pPr>
            <a:lvl2pPr lvl="1" algn="ctr">
              <a:lnSpc>
                <a:spcPct val="100000"/>
              </a:lnSpc>
              <a:spcBef>
                <a:spcPts val="0"/>
              </a:spcBef>
              <a:spcAft>
                <a:spcPts val="0"/>
              </a:spcAft>
              <a:buClr>
                <a:srgbClr val="263238"/>
              </a:buClr>
              <a:buSzPts val="2800"/>
              <a:buNone/>
              <a:defRPr sz="2800">
                <a:solidFill>
                  <a:srgbClr val="263238"/>
                </a:solidFill>
              </a:defRPr>
            </a:lvl2pPr>
            <a:lvl3pPr lvl="2" algn="ctr">
              <a:lnSpc>
                <a:spcPct val="100000"/>
              </a:lnSpc>
              <a:spcBef>
                <a:spcPts val="0"/>
              </a:spcBef>
              <a:spcAft>
                <a:spcPts val="0"/>
              </a:spcAft>
              <a:buClr>
                <a:srgbClr val="263238"/>
              </a:buClr>
              <a:buSzPts val="2800"/>
              <a:buNone/>
              <a:defRPr sz="2800">
                <a:solidFill>
                  <a:srgbClr val="263238"/>
                </a:solidFill>
              </a:defRPr>
            </a:lvl3pPr>
            <a:lvl4pPr lvl="3" algn="ctr">
              <a:lnSpc>
                <a:spcPct val="100000"/>
              </a:lnSpc>
              <a:spcBef>
                <a:spcPts val="0"/>
              </a:spcBef>
              <a:spcAft>
                <a:spcPts val="0"/>
              </a:spcAft>
              <a:buClr>
                <a:srgbClr val="263238"/>
              </a:buClr>
              <a:buSzPts val="2800"/>
              <a:buNone/>
              <a:defRPr sz="2800">
                <a:solidFill>
                  <a:srgbClr val="263238"/>
                </a:solidFill>
              </a:defRPr>
            </a:lvl4pPr>
            <a:lvl5pPr lvl="4" algn="ctr">
              <a:lnSpc>
                <a:spcPct val="100000"/>
              </a:lnSpc>
              <a:spcBef>
                <a:spcPts val="0"/>
              </a:spcBef>
              <a:spcAft>
                <a:spcPts val="0"/>
              </a:spcAft>
              <a:buClr>
                <a:srgbClr val="263238"/>
              </a:buClr>
              <a:buSzPts val="2800"/>
              <a:buNone/>
              <a:defRPr sz="2800">
                <a:solidFill>
                  <a:srgbClr val="263238"/>
                </a:solidFill>
              </a:defRPr>
            </a:lvl5pPr>
            <a:lvl6pPr lvl="5" algn="ctr">
              <a:lnSpc>
                <a:spcPct val="100000"/>
              </a:lnSpc>
              <a:spcBef>
                <a:spcPts val="0"/>
              </a:spcBef>
              <a:spcAft>
                <a:spcPts val="0"/>
              </a:spcAft>
              <a:buClr>
                <a:srgbClr val="263238"/>
              </a:buClr>
              <a:buSzPts val="2800"/>
              <a:buNone/>
              <a:defRPr sz="2800">
                <a:solidFill>
                  <a:srgbClr val="263238"/>
                </a:solidFill>
              </a:defRPr>
            </a:lvl6pPr>
            <a:lvl7pPr lvl="6" algn="ctr">
              <a:lnSpc>
                <a:spcPct val="100000"/>
              </a:lnSpc>
              <a:spcBef>
                <a:spcPts val="0"/>
              </a:spcBef>
              <a:spcAft>
                <a:spcPts val="0"/>
              </a:spcAft>
              <a:buClr>
                <a:srgbClr val="263238"/>
              </a:buClr>
              <a:buSzPts val="2800"/>
              <a:buNone/>
              <a:defRPr sz="2800">
                <a:solidFill>
                  <a:srgbClr val="263238"/>
                </a:solidFill>
              </a:defRPr>
            </a:lvl7pPr>
            <a:lvl8pPr lvl="7" algn="ctr">
              <a:lnSpc>
                <a:spcPct val="100000"/>
              </a:lnSpc>
              <a:spcBef>
                <a:spcPts val="0"/>
              </a:spcBef>
              <a:spcAft>
                <a:spcPts val="0"/>
              </a:spcAft>
              <a:buClr>
                <a:srgbClr val="263238"/>
              </a:buClr>
              <a:buSzPts val="2800"/>
              <a:buNone/>
              <a:defRPr sz="2800">
                <a:solidFill>
                  <a:srgbClr val="263238"/>
                </a:solidFill>
              </a:defRPr>
            </a:lvl8pPr>
            <a:lvl9pPr lvl="8" algn="ctr">
              <a:lnSpc>
                <a:spcPct val="100000"/>
              </a:lnSpc>
              <a:spcBef>
                <a:spcPts val="0"/>
              </a:spcBef>
              <a:spcAft>
                <a:spcPts val="0"/>
              </a:spcAft>
              <a:buClr>
                <a:srgbClr val="263238"/>
              </a:buClr>
              <a:buSzPts val="2800"/>
              <a:buNone/>
              <a:defRPr sz="2800">
                <a:solidFill>
                  <a:srgbClr val="263238"/>
                </a:solidFill>
              </a:defRPr>
            </a:lvl9pPr>
          </a:lstStyle>
          <a:p/>
        </p:txBody>
      </p:sp>
      <p:sp>
        <p:nvSpPr>
          <p:cNvPr id="15" name="Google Shape;15;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 name="Shape 16"/>
        <p:cNvGrpSpPr/>
        <p:nvPr/>
      </p:nvGrpSpPr>
      <p:grpSpPr>
        <a:xfrm>
          <a:off x="0" y="0"/>
          <a:ext cx="0" cy="0"/>
          <a:chOff x="0" y="0"/>
          <a:chExt cx="0" cy="0"/>
        </a:xfrm>
      </p:grpSpPr>
      <p:grpSp>
        <p:nvGrpSpPr>
          <p:cNvPr id="17" name="Google Shape;17;p35"/>
          <p:cNvGrpSpPr/>
          <p:nvPr/>
        </p:nvGrpSpPr>
        <p:grpSpPr>
          <a:xfrm>
            <a:off x="-141807" y="-246197"/>
            <a:ext cx="3334748" cy="4792558"/>
            <a:chOff x="1668589" y="1441629"/>
            <a:chExt cx="2816986" cy="3964396"/>
          </a:xfrm>
        </p:grpSpPr>
        <p:sp>
          <p:nvSpPr>
            <p:cNvPr id="18" name="Google Shape;18;p35"/>
            <p:cNvSpPr/>
            <p:nvPr/>
          </p:nvSpPr>
          <p:spPr>
            <a:xfrm rot="10800000">
              <a:off x="1668589" y="1441629"/>
              <a:ext cx="2816986" cy="3964396"/>
            </a:xfrm>
            <a:custGeom>
              <a:rect b="b" l="l" r="r" t="t"/>
              <a:pathLst>
                <a:path extrusionOk="0" h="116806" w="82999">
                  <a:moveTo>
                    <a:pt x="82464" y="1"/>
                  </a:moveTo>
                  <a:cubicBezTo>
                    <a:pt x="82335" y="1"/>
                    <a:pt x="82204" y="47"/>
                    <a:pt x="82095" y="152"/>
                  </a:cubicBezTo>
                  <a:cubicBezTo>
                    <a:pt x="73073" y="9174"/>
                    <a:pt x="67740" y="33067"/>
                    <a:pt x="66497" y="44700"/>
                  </a:cubicBezTo>
                  <a:cubicBezTo>
                    <a:pt x="60050" y="105583"/>
                    <a:pt x="38183" y="112475"/>
                    <a:pt x="25719" y="112475"/>
                  </a:cubicBezTo>
                  <a:cubicBezTo>
                    <a:pt x="22071" y="112475"/>
                    <a:pt x="19229" y="111885"/>
                    <a:pt x="17813" y="111885"/>
                  </a:cubicBezTo>
                  <a:cubicBezTo>
                    <a:pt x="17777" y="111885"/>
                    <a:pt x="17742" y="111885"/>
                    <a:pt x="17707" y="111886"/>
                  </a:cubicBezTo>
                  <a:cubicBezTo>
                    <a:pt x="17160" y="111872"/>
                    <a:pt x="16627" y="111865"/>
                    <a:pt x="16107" y="111865"/>
                  </a:cubicBezTo>
                  <a:cubicBezTo>
                    <a:pt x="7612" y="111865"/>
                    <a:pt x="2813" y="113749"/>
                    <a:pt x="365" y="115889"/>
                  </a:cubicBezTo>
                  <a:cubicBezTo>
                    <a:pt x="1" y="116203"/>
                    <a:pt x="239" y="116805"/>
                    <a:pt x="716" y="116805"/>
                  </a:cubicBezTo>
                  <a:lnTo>
                    <a:pt x="82472" y="116805"/>
                  </a:lnTo>
                  <a:cubicBezTo>
                    <a:pt x="82761" y="116805"/>
                    <a:pt x="82999" y="116579"/>
                    <a:pt x="82999" y="116278"/>
                  </a:cubicBezTo>
                  <a:lnTo>
                    <a:pt x="82999" y="6150"/>
                  </a:lnTo>
                  <a:lnTo>
                    <a:pt x="82999" y="528"/>
                  </a:lnTo>
                  <a:cubicBezTo>
                    <a:pt x="82999" y="212"/>
                    <a:pt x="82737" y="1"/>
                    <a:pt x="82464"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5"/>
            <p:cNvSpPr/>
            <p:nvPr/>
          </p:nvSpPr>
          <p:spPr>
            <a:xfrm rot="10800000">
              <a:off x="1668597" y="1441632"/>
              <a:ext cx="2191743" cy="3755699"/>
            </a:xfrm>
            <a:custGeom>
              <a:rect b="b" l="l" r="r" t="t"/>
              <a:pathLst>
                <a:path extrusionOk="0" h="110657" w="64577">
                  <a:moveTo>
                    <a:pt x="64577" y="1"/>
                  </a:moveTo>
                  <a:cubicBezTo>
                    <a:pt x="56395" y="9952"/>
                    <a:pt x="51526" y="31988"/>
                    <a:pt x="50359" y="43018"/>
                  </a:cubicBezTo>
                  <a:cubicBezTo>
                    <a:pt x="43679" y="106095"/>
                    <a:pt x="20298" y="110049"/>
                    <a:pt x="8185" y="110049"/>
                  </a:cubicBezTo>
                  <a:cubicBezTo>
                    <a:pt x="6449" y="110049"/>
                    <a:pt x="4945" y="109968"/>
                    <a:pt x="3754" y="109968"/>
                  </a:cubicBezTo>
                  <a:cubicBezTo>
                    <a:pt x="2827" y="109968"/>
                    <a:pt x="2090" y="110017"/>
                    <a:pt x="1582" y="110192"/>
                  </a:cubicBezTo>
                  <a:cubicBezTo>
                    <a:pt x="1042" y="110380"/>
                    <a:pt x="528" y="110518"/>
                    <a:pt x="1" y="110656"/>
                  </a:cubicBezTo>
                  <a:lnTo>
                    <a:pt x="64577" y="110656"/>
                  </a:lnTo>
                  <a:lnTo>
                    <a:pt x="64577" y="1"/>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 name="Google Shape;20;p35"/>
          <p:cNvSpPr txBox="1"/>
          <p:nvPr>
            <p:ph idx="1" type="subTitle"/>
          </p:nvPr>
        </p:nvSpPr>
        <p:spPr>
          <a:xfrm>
            <a:off x="4310025" y="2339325"/>
            <a:ext cx="3527400" cy="16311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2800"/>
              <a:buNone/>
              <a:defRPr sz="1600"/>
            </a:lvl1pPr>
            <a:lvl2pPr lvl="1" algn="r">
              <a:lnSpc>
                <a:spcPct val="100000"/>
              </a:lnSpc>
              <a:spcBef>
                <a:spcPts val="0"/>
              </a:spcBef>
              <a:spcAft>
                <a:spcPts val="0"/>
              </a:spcAft>
              <a:buSzPts val="2800"/>
              <a:buNone/>
              <a:defRPr sz="2800"/>
            </a:lvl2pPr>
            <a:lvl3pPr lvl="2" algn="r">
              <a:lnSpc>
                <a:spcPct val="100000"/>
              </a:lnSpc>
              <a:spcBef>
                <a:spcPts val="0"/>
              </a:spcBef>
              <a:spcAft>
                <a:spcPts val="0"/>
              </a:spcAft>
              <a:buSzPts val="2800"/>
              <a:buNone/>
              <a:defRPr sz="2800"/>
            </a:lvl3pPr>
            <a:lvl4pPr lvl="3" algn="r">
              <a:lnSpc>
                <a:spcPct val="100000"/>
              </a:lnSpc>
              <a:spcBef>
                <a:spcPts val="0"/>
              </a:spcBef>
              <a:spcAft>
                <a:spcPts val="0"/>
              </a:spcAft>
              <a:buSzPts val="2800"/>
              <a:buNone/>
              <a:defRPr sz="2800"/>
            </a:lvl4pPr>
            <a:lvl5pPr lvl="4" algn="r">
              <a:lnSpc>
                <a:spcPct val="100000"/>
              </a:lnSpc>
              <a:spcBef>
                <a:spcPts val="0"/>
              </a:spcBef>
              <a:spcAft>
                <a:spcPts val="0"/>
              </a:spcAft>
              <a:buSzPts val="2800"/>
              <a:buNone/>
              <a:defRPr sz="2800"/>
            </a:lvl5pPr>
            <a:lvl6pPr lvl="5" algn="r">
              <a:lnSpc>
                <a:spcPct val="100000"/>
              </a:lnSpc>
              <a:spcBef>
                <a:spcPts val="0"/>
              </a:spcBef>
              <a:spcAft>
                <a:spcPts val="0"/>
              </a:spcAft>
              <a:buSzPts val="2800"/>
              <a:buNone/>
              <a:defRPr sz="2800"/>
            </a:lvl6pPr>
            <a:lvl7pPr lvl="6" algn="r">
              <a:lnSpc>
                <a:spcPct val="100000"/>
              </a:lnSpc>
              <a:spcBef>
                <a:spcPts val="0"/>
              </a:spcBef>
              <a:spcAft>
                <a:spcPts val="0"/>
              </a:spcAft>
              <a:buSzPts val="2800"/>
              <a:buNone/>
              <a:defRPr sz="2800"/>
            </a:lvl7pPr>
            <a:lvl8pPr lvl="7" algn="r">
              <a:lnSpc>
                <a:spcPct val="100000"/>
              </a:lnSpc>
              <a:spcBef>
                <a:spcPts val="0"/>
              </a:spcBef>
              <a:spcAft>
                <a:spcPts val="0"/>
              </a:spcAft>
              <a:buSzPts val="2800"/>
              <a:buNone/>
              <a:defRPr sz="2800"/>
            </a:lvl8pPr>
            <a:lvl9pPr lvl="8" algn="r">
              <a:lnSpc>
                <a:spcPct val="100000"/>
              </a:lnSpc>
              <a:spcBef>
                <a:spcPts val="0"/>
              </a:spcBef>
              <a:spcAft>
                <a:spcPts val="0"/>
              </a:spcAft>
              <a:buSzPts val="2800"/>
              <a:buNone/>
              <a:defRPr sz="2800"/>
            </a:lvl9pPr>
          </a:lstStyle>
          <a:p/>
        </p:txBody>
      </p:sp>
      <p:sp>
        <p:nvSpPr>
          <p:cNvPr id="21" name="Google Shape;21;p35"/>
          <p:cNvSpPr txBox="1"/>
          <p:nvPr>
            <p:ph type="title"/>
          </p:nvPr>
        </p:nvSpPr>
        <p:spPr>
          <a:xfrm>
            <a:off x="720000" y="445025"/>
            <a:ext cx="7704000" cy="477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3000">
                <a:solidFill>
                  <a:schemeClr val="dk1"/>
                </a:solidFill>
              </a:defRPr>
            </a:lvl1pPr>
            <a:lvl2pPr lvl="1" algn="ctr">
              <a:lnSpc>
                <a:spcPct val="100000"/>
              </a:lnSpc>
              <a:spcBef>
                <a:spcPts val="0"/>
              </a:spcBef>
              <a:spcAft>
                <a:spcPts val="0"/>
              </a:spcAft>
              <a:buSzPts val="2800"/>
              <a:buNone/>
              <a:defRPr sz="3000">
                <a:solidFill>
                  <a:schemeClr val="dk1"/>
                </a:solidFill>
              </a:defRPr>
            </a:lvl2pPr>
            <a:lvl3pPr lvl="2" algn="ctr">
              <a:lnSpc>
                <a:spcPct val="100000"/>
              </a:lnSpc>
              <a:spcBef>
                <a:spcPts val="0"/>
              </a:spcBef>
              <a:spcAft>
                <a:spcPts val="0"/>
              </a:spcAft>
              <a:buSzPts val="2800"/>
              <a:buNone/>
              <a:defRPr sz="3000">
                <a:solidFill>
                  <a:schemeClr val="dk1"/>
                </a:solidFill>
              </a:defRPr>
            </a:lvl3pPr>
            <a:lvl4pPr lvl="3" algn="ctr">
              <a:lnSpc>
                <a:spcPct val="100000"/>
              </a:lnSpc>
              <a:spcBef>
                <a:spcPts val="0"/>
              </a:spcBef>
              <a:spcAft>
                <a:spcPts val="0"/>
              </a:spcAft>
              <a:buSzPts val="2800"/>
              <a:buNone/>
              <a:defRPr sz="3000">
                <a:solidFill>
                  <a:schemeClr val="dk1"/>
                </a:solidFill>
              </a:defRPr>
            </a:lvl4pPr>
            <a:lvl5pPr lvl="4" algn="ctr">
              <a:lnSpc>
                <a:spcPct val="100000"/>
              </a:lnSpc>
              <a:spcBef>
                <a:spcPts val="0"/>
              </a:spcBef>
              <a:spcAft>
                <a:spcPts val="0"/>
              </a:spcAft>
              <a:buSzPts val="2800"/>
              <a:buNone/>
              <a:defRPr sz="3000">
                <a:solidFill>
                  <a:schemeClr val="dk1"/>
                </a:solidFill>
              </a:defRPr>
            </a:lvl5pPr>
            <a:lvl6pPr lvl="5" algn="ctr">
              <a:lnSpc>
                <a:spcPct val="100000"/>
              </a:lnSpc>
              <a:spcBef>
                <a:spcPts val="0"/>
              </a:spcBef>
              <a:spcAft>
                <a:spcPts val="0"/>
              </a:spcAft>
              <a:buSzPts val="2800"/>
              <a:buNone/>
              <a:defRPr sz="3000">
                <a:solidFill>
                  <a:schemeClr val="dk1"/>
                </a:solidFill>
              </a:defRPr>
            </a:lvl6pPr>
            <a:lvl7pPr lvl="6" algn="ctr">
              <a:lnSpc>
                <a:spcPct val="100000"/>
              </a:lnSpc>
              <a:spcBef>
                <a:spcPts val="0"/>
              </a:spcBef>
              <a:spcAft>
                <a:spcPts val="0"/>
              </a:spcAft>
              <a:buSzPts val="2800"/>
              <a:buNone/>
              <a:defRPr sz="3000">
                <a:solidFill>
                  <a:schemeClr val="dk1"/>
                </a:solidFill>
              </a:defRPr>
            </a:lvl7pPr>
            <a:lvl8pPr lvl="7" algn="ctr">
              <a:lnSpc>
                <a:spcPct val="100000"/>
              </a:lnSpc>
              <a:spcBef>
                <a:spcPts val="0"/>
              </a:spcBef>
              <a:spcAft>
                <a:spcPts val="0"/>
              </a:spcAft>
              <a:buSzPts val="2800"/>
              <a:buNone/>
              <a:defRPr sz="3000">
                <a:solidFill>
                  <a:schemeClr val="dk1"/>
                </a:solidFill>
              </a:defRPr>
            </a:lvl8pPr>
            <a:lvl9pPr lvl="8" algn="ctr">
              <a:lnSpc>
                <a:spcPct val="100000"/>
              </a:lnSpc>
              <a:spcBef>
                <a:spcPts val="0"/>
              </a:spcBef>
              <a:spcAft>
                <a:spcPts val="0"/>
              </a:spcAft>
              <a:buSzPts val="2800"/>
              <a:buNone/>
              <a:defRPr sz="3000">
                <a:solidFill>
                  <a:schemeClr val="dk1"/>
                </a:solidFill>
              </a:defRPr>
            </a:lvl9pPr>
          </a:lstStyle>
          <a:p/>
        </p:txBody>
      </p:sp>
      <p:sp>
        <p:nvSpPr>
          <p:cNvPr id="22" name="Google Shape;22;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3" name="Shape 23"/>
        <p:cNvGrpSpPr/>
        <p:nvPr/>
      </p:nvGrpSpPr>
      <p:grpSpPr>
        <a:xfrm>
          <a:off x="0" y="0"/>
          <a:ext cx="0" cy="0"/>
          <a:chOff x="0" y="0"/>
          <a:chExt cx="0" cy="0"/>
        </a:xfrm>
      </p:grpSpPr>
      <p:grpSp>
        <p:nvGrpSpPr>
          <p:cNvPr id="24" name="Google Shape;24;p36"/>
          <p:cNvGrpSpPr/>
          <p:nvPr/>
        </p:nvGrpSpPr>
        <p:grpSpPr>
          <a:xfrm rot="10800000">
            <a:off x="-598508" y="3479052"/>
            <a:ext cx="3968943" cy="2132274"/>
            <a:chOff x="4106300" y="1016575"/>
            <a:chExt cx="2479350" cy="1102178"/>
          </a:xfrm>
        </p:grpSpPr>
        <p:sp>
          <p:nvSpPr>
            <p:cNvPr id="25" name="Google Shape;25;p36"/>
            <p:cNvSpPr/>
            <p:nvPr/>
          </p:nvSpPr>
          <p:spPr>
            <a:xfrm>
              <a:off x="4106300" y="1051453"/>
              <a:ext cx="2479350" cy="1067300"/>
            </a:xfrm>
            <a:custGeom>
              <a:rect b="b" l="l" r="r" t="t"/>
              <a:pathLst>
                <a:path extrusionOk="0" h="42692" w="99174">
                  <a:moveTo>
                    <a:pt x="33079" y="1"/>
                  </a:moveTo>
                  <a:cubicBezTo>
                    <a:pt x="18838" y="1"/>
                    <a:pt x="6680" y="392"/>
                    <a:pt x="2184" y="1562"/>
                  </a:cubicBezTo>
                  <a:cubicBezTo>
                    <a:pt x="640" y="1963"/>
                    <a:pt x="0" y="2453"/>
                    <a:pt x="490" y="3055"/>
                  </a:cubicBezTo>
                  <a:cubicBezTo>
                    <a:pt x="9538" y="14085"/>
                    <a:pt x="44185" y="12479"/>
                    <a:pt x="56182" y="15415"/>
                  </a:cubicBezTo>
                  <a:cubicBezTo>
                    <a:pt x="69203" y="18605"/>
                    <a:pt x="85057" y="42691"/>
                    <a:pt x="95223" y="42691"/>
                  </a:cubicBezTo>
                  <a:cubicBezTo>
                    <a:pt x="95775" y="42691"/>
                    <a:pt x="96310" y="42620"/>
                    <a:pt x="96827" y="42471"/>
                  </a:cubicBezTo>
                  <a:cubicBezTo>
                    <a:pt x="97944" y="42144"/>
                    <a:pt x="98697" y="40262"/>
                    <a:pt x="99174" y="37476"/>
                  </a:cubicBezTo>
                  <a:lnTo>
                    <a:pt x="99174" y="34289"/>
                  </a:lnTo>
                  <a:lnTo>
                    <a:pt x="99174" y="5138"/>
                  </a:lnTo>
                  <a:cubicBezTo>
                    <a:pt x="99023" y="2942"/>
                    <a:pt x="98898" y="1587"/>
                    <a:pt x="98898" y="1587"/>
                  </a:cubicBezTo>
                  <a:cubicBezTo>
                    <a:pt x="98898" y="1587"/>
                    <a:pt x="61763" y="1"/>
                    <a:pt x="33079"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36"/>
            <p:cNvSpPr/>
            <p:nvPr/>
          </p:nvSpPr>
          <p:spPr>
            <a:xfrm>
              <a:off x="4112875" y="1016575"/>
              <a:ext cx="2472775" cy="1010025"/>
            </a:xfrm>
            <a:custGeom>
              <a:rect b="b" l="l" r="r" t="t"/>
              <a:pathLst>
                <a:path extrusionOk="0" h="40401" w="98911">
                  <a:moveTo>
                    <a:pt x="239" y="1"/>
                  </a:moveTo>
                  <a:cubicBezTo>
                    <a:pt x="13" y="239"/>
                    <a:pt x="1" y="490"/>
                    <a:pt x="227" y="766"/>
                  </a:cubicBezTo>
                  <a:cubicBezTo>
                    <a:pt x="716" y="1356"/>
                    <a:pt x="1293" y="1920"/>
                    <a:pt x="1921" y="2448"/>
                  </a:cubicBezTo>
                  <a:cubicBezTo>
                    <a:pt x="12964" y="11633"/>
                    <a:pt x="44574" y="10341"/>
                    <a:pt x="55919" y="13127"/>
                  </a:cubicBezTo>
                  <a:cubicBezTo>
                    <a:pt x="68942" y="16317"/>
                    <a:pt x="84801" y="40401"/>
                    <a:pt x="94966" y="40401"/>
                  </a:cubicBezTo>
                  <a:cubicBezTo>
                    <a:pt x="95516" y="40401"/>
                    <a:pt x="96049" y="40330"/>
                    <a:pt x="96564" y="40182"/>
                  </a:cubicBezTo>
                  <a:cubicBezTo>
                    <a:pt x="97681" y="39856"/>
                    <a:pt x="98434" y="37973"/>
                    <a:pt x="98911" y="35175"/>
                  </a:cubicBezTo>
                  <a:lnTo>
                    <a:pt x="98911" y="6024"/>
                  </a:lnTo>
                  <a:lnTo>
                    <a:pt x="98911" y="2849"/>
                  </a:lnTo>
                  <a:cubicBezTo>
                    <a:pt x="98823" y="1594"/>
                    <a:pt x="98748" y="615"/>
                    <a:pt x="98698"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 name="Google Shape;27;p36"/>
          <p:cNvGrpSpPr/>
          <p:nvPr/>
        </p:nvGrpSpPr>
        <p:grpSpPr>
          <a:xfrm>
            <a:off x="6630225" y="4"/>
            <a:ext cx="2513765" cy="2331456"/>
            <a:chOff x="6669475" y="4"/>
            <a:chExt cx="2513765" cy="2331456"/>
          </a:xfrm>
        </p:grpSpPr>
        <p:sp>
          <p:nvSpPr>
            <p:cNvPr id="28" name="Google Shape;28;p36"/>
            <p:cNvSpPr/>
            <p:nvPr/>
          </p:nvSpPr>
          <p:spPr>
            <a:xfrm>
              <a:off x="6669475" y="4"/>
              <a:ext cx="2513765" cy="2331456"/>
            </a:xfrm>
            <a:custGeom>
              <a:rect b="b" l="l" r="r" t="t"/>
              <a:pathLst>
                <a:path extrusionOk="0" h="72383" w="78043">
                  <a:moveTo>
                    <a:pt x="1" y="0"/>
                  </a:moveTo>
                  <a:cubicBezTo>
                    <a:pt x="4004" y="13302"/>
                    <a:pt x="37685" y="11445"/>
                    <a:pt x="45453" y="14570"/>
                  </a:cubicBezTo>
                  <a:cubicBezTo>
                    <a:pt x="66234" y="22952"/>
                    <a:pt x="64075" y="58403"/>
                    <a:pt x="78042" y="72382"/>
                  </a:cubicBezTo>
                  <a:lnTo>
                    <a:pt x="78042" y="67915"/>
                  </a:lnTo>
                  <a:lnTo>
                    <a:pt x="78042" y="0"/>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6"/>
            <p:cNvSpPr/>
            <p:nvPr/>
          </p:nvSpPr>
          <p:spPr>
            <a:xfrm>
              <a:off x="6784687" y="4"/>
              <a:ext cx="2398550" cy="2187542"/>
            </a:xfrm>
            <a:custGeom>
              <a:rect b="b" l="l" r="r" t="t"/>
              <a:pathLst>
                <a:path extrusionOk="0" h="67915" w="74466">
                  <a:moveTo>
                    <a:pt x="0" y="0"/>
                  </a:moveTo>
                  <a:cubicBezTo>
                    <a:pt x="6187" y="10805"/>
                    <a:pt x="34209" y="7843"/>
                    <a:pt x="42315" y="10629"/>
                  </a:cubicBezTo>
                  <a:cubicBezTo>
                    <a:pt x="64878" y="18359"/>
                    <a:pt x="61653" y="53509"/>
                    <a:pt x="74465" y="67915"/>
                  </a:cubicBezTo>
                  <a:lnTo>
                    <a:pt x="74465" y="0"/>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36"/>
          <p:cNvSpPr txBox="1"/>
          <p:nvPr>
            <p:ph type="title"/>
          </p:nvPr>
        </p:nvSpPr>
        <p:spPr>
          <a:xfrm>
            <a:off x="720000" y="445025"/>
            <a:ext cx="7704000" cy="477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3000">
                <a:solidFill>
                  <a:schemeClr val="dk1"/>
                </a:solidFill>
              </a:defRPr>
            </a:lvl1pPr>
            <a:lvl2pPr lvl="1" algn="ctr">
              <a:lnSpc>
                <a:spcPct val="100000"/>
              </a:lnSpc>
              <a:spcBef>
                <a:spcPts val="0"/>
              </a:spcBef>
              <a:spcAft>
                <a:spcPts val="0"/>
              </a:spcAft>
              <a:buSzPts val="2800"/>
              <a:buNone/>
              <a:defRPr sz="3000">
                <a:solidFill>
                  <a:schemeClr val="dk1"/>
                </a:solidFill>
              </a:defRPr>
            </a:lvl2pPr>
            <a:lvl3pPr lvl="2" algn="ctr">
              <a:lnSpc>
                <a:spcPct val="100000"/>
              </a:lnSpc>
              <a:spcBef>
                <a:spcPts val="0"/>
              </a:spcBef>
              <a:spcAft>
                <a:spcPts val="0"/>
              </a:spcAft>
              <a:buSzPts val="2800"/>
              <a:buNone/>
              <a:defRPr sz="3000">
                <a:solidFill>
                  <a:schemeClr val="dk1"/>
                </a:solidFill>
              </a:defRPr>
            </a:lvl3pPr>
            <a:lvl4pPr lvl="3" algn="ctr">
              <a:lnSpc>
                <a:spcPct val="100000"/>
              </a:lnSpc>
              <a:spcBef>
                <a:spcPts val="0"/>
              </a:spcBef>
              <a:spcAft>
                <a:spcPts val="0"/>
              </a:spcAft>
              <a:buSzPts val="2800"/>
              <a:buNone/>
              <a:defRPr sz="3000">
                <a:solidFill>
                  <a:schemeClr val="dk1"/>
                </a:solidFill>
              </a:defRPr>
            </a:lvl4pPr>
            <a:lvl5pPr lvl="4" algn="ctr">
              <a:lnSpc>
                <a:spcPct val="100000"/>
              </a:lnSpc>
              <a:spcBef>
                <a:spcPts val="0"/>
              </a:spcBef>
              <a:spcAft>
                <a:spcPts val="0"/>
              </a:spcAft>
              <a:buSzPts val="2800"/>
              <a:buNone/>
              <a:defRPr sz="3000">
                <a:solidFill>
                  <a:schemeClr val="dk1"/>
                </a:solidFill>
              </a:defRPr>
            </a:lvl5pPr>
            <a:lvl6pPr lvl="5" algn="ctr">
              <a:lnSpc>
                <a:spcPct val="100000"/>
              </a:lnSpc>
              <a:spcBef>
                <a:spcPts val="0"/>
              </a:spcBef>
              <a:spcAft>
                <a:spcPts val="0"/>
              </a:spcAft>
              <a:buSzPts val="2800"/>
              <a:buNone/>
              <a:defRPr sz="3000">
                <a:solidFill>
                  <a:schemeClr val="dk1"/>
                </a:solidFill>
              </a:defRPr>
            </a:lvl6pPr>
            <a:lvl7pPr lvl="6" algn="ctr">
              <a:lnSpc>
                <a:spcPct val="100000"/>
              </a:lnSpc>
              <a:spcBef>
                <a:spcPts val="0"/>
              </a:spcBef>
              <a:spcAft>
                <a:spcPts val="0"/>
              </a:spcAft>
              <a:buSzPts val="2800"/>
              <a:buNone/>
              <a:defRPr sz="3000">
                <a:solidFill>
                  <a:schemeClr val="dk1"/>
                </a:solidFill>
              </a:defRPr>
            </a:lvl7pPr>
            <a:lvl8pPr lvl="7" algn="ctr">
              <a:lnSpc>
                <a:spcPct val="100000"/>
              </a:lnSpc>
              <a:spcBef>
                <a:spcPts val="0"/>
              </a:spcBef>
              <a:spcAft>
                <a:spcPts val="0"/>
              </a:spcAft>
              <a:buSzPts val="2800"/>
              <a:buNone/>
              <a:defRPr sz="3000">
                <a:solidFill>
                  <a:schemeClr val="dk1"/>
                </a:solidFill>
              </a:defRPr>
            </a:lvl8pPr>
            <a:lvl9pPr lvl="8" algn="ctr">
              <a:lnSpc>
                <a:spcPct val="100000"/>
              </a:lnSpc>
              <a:spcBef>
                <a:spcPts val="0"/>
              </a:spcBef>
              <a:spcAft>
                <a:spcPts val="0"/>
              </a:spcAft>
              <a:buSzPts val="2800"/>
              <a:buNone/>
              <a:defRPr sz="3000">
                <a:solidFill>
                  <a:schemeClr val="dk1"/>
                </a:solidFill>
              </a:defRPr>
            </a:lvl9pPr>
          </a:lstStyle>
          <a:p/>
        </p:txBody>
      </p:sp>
      <p:sp>
        <p:nvSpPr>
          <p:cNvPr id="31" name="Google Shape;31;p36">
            <a:hlinkClick/>
          </p:cNvPr>
          <p:cNvSpPr txBox="1"/>
          <p:nvPr>
            <p:ph idx="2" type="title"/>
          </p:nvPr>
        </p:nvSpPr>
        <p:spPr>
          <a:xfrm>
            <a:off x="1225110" y="1172475"/>
            <a:ext cx="653100" cy="36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2" name="Google Shape;32;p36">
            <a:hlinkClick/>
          </p:cNvPr>
          <p:cNvSpPr txBox="1"/>
          <p:nvPr>
            <p:ph idx="3" type="title"/>
          </p:nvPr>
        </p:nvSpPr>
        <p:spPr>
          <a:xfrm>
            <a:off x="1225111" y="1535475"/>
            <a:ext cx="2344200" cy="248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33" name="Google Shape;33;p36"/>
          <p:cNvSpPr txBox="1"/>
          <p:nvPr>
            <p:ph idx="1" type="subTitle"/>
          </p:nvPr>
        </p:nvSpPr>
        <p:spPr>
          <a:xfrm>
            <a:off x="1225110" y="1783875"/>
            <a:ext cx="2344200" cy="419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4" name="Google Shape;34;p36">
            <a:hlinkClick/>
          </p:cNvPr>
          <p:cNvSpPr txBox="1"/>
          <p:nvPr>
            <p:ph idx="4" type="title"/>
          </p:nvPr>
        </p:nvSpPr>
        <p:spPr>
          <a:xfrm>
            <a:off x="1225110" y="2374273"/>
            <a:ext cx="653100" cy="36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600"/>
              <a:buNone/>
              <a:defRPr sz="30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35" name="Google Shape;35;p36">
            <a:hlinkClick/>
          </p:cNvPr>
          <p:cNvSpPr txBox="1"/>
          <p:nvPr>
            <p:ph idx="5" type="title"/>
          </p:nvPr>
        </p:nvSpPr>
        <p:spPr>
          <a:xfrm>
            <a:off x="1225111" y="2737275"/>
            <a:ext cx="2344200" cy="248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36" name="Google Shape;36;p36"/>
          <p:cNvSpPr txBox="1"/>
          <p:nvPr>
            <p:ph idx="6" type="subTitle"/>
          </p:nvPr>
        </p:nvSpPr>
        <p:spPr>
          <a:xfrm>
            <a:off x="1225110" y="2979375"/>
            <a:ext cx="2344200" cy="419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7" name="Google Shape;37;p36"/>
          <p:cNvSpPr txBox="1"/>
          <p:nvPr>
            <p:ph idx="7" type="title"/>
          </p:nvPr>
        </p:nvSpPr>
        <p:spPr>
          <a:xfrm>
            <a:off x="1225110" y="3569775"/>
            <a:ext cx="653100" cy="36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8" name="Google Shape;38;p36"/>
          <p:cNvSpPr txBox="1"/>
          <p:nvPr>
            <p:ph idx="8" type="title"/>
          </p:nvPr>
        </p:nvSpPr>
        <p:spPr>
          <a:xfrm>
            <a:off x="1225111" y="3933775"/>
            <a:ext cx="2344200" cy="248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39" name="Google Shape;39;p36"/>
          <p:cNvSpPr txBox="1"/>
          <p:nvPr>
            <p:ph idx="9" type="subTitle"/>
          </p:nvPr>
        </p:nvSpPr>
        <p:spPr>
          <a:xfrm>
            <a:off x="1225117" y="4179025"/>
            <a:ext cx="2344200" cy="419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0" name="Google Shape;40;p36"/>
          <p:cNvSpPr txBox="1"/>
          <p:nvPr>
            <p:ph idx="13" type="title"/>
          </p:nvPr>
        </p:nvSpPr>
        <p:spPr>
          <a:xfrm>
            <a:off x="4966585" y="1171750"/>
            <a:ext cx="653100" cy="36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 name="Google Shape;41;p36"/>
          <p:cNvSpPr txBox="1"/>
          <p:nvPr>
            <p:ph idx="14" type="title"/>
          </p:nvPr>
        </p:nvSpPr>
        <p:spPr>
          <a:xfrm>
            <a:off x="4966715" y="1535475"/>
            <a:ext cx="2409000" cy="248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42" name="Google Shape;42;p36"/>
          <p:cNvSpPr txBox="1"/>
          <p:nvPr>
            <p:ph idx="15" type="subTitle"/>
          </p:nvPr>
        </p:nvSpPr>
        <p:spPr>
          <a:xfrm>
            <a:off x="4966760" y="1783863"/>
            <a:ext cx="2409000" cy="419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3" name="Google Shape;43;p36"/>
          <p:cNvSpPr txBox="1"/>
          <p:nvPr>
            <p:ph idx="16" type="title"/>
          </p:nvPr>
        </p:nvSpPr>
        <p:spPr>
          <a:xfrm>
            <a:off x="4966585" y="2375625"/>
            <a:ext cx="653100" cy="36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4" name="Google Shape;44;p36"/>
          <p:cNvSpPr txBox="1"/>
          <p:nvPr>
            <p:ph idx="17" type="title"/>
          </p:nvPr>
        </p:nvSpPr>
        <p:spPr>
          <a:xfrm>
            <a:off x="4966590" y="2734622"/>
            <a:ext cx="2409000" cy="248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45" name="Google Shape;45;p36"/>
          <p:cNvSpPr txBox="1"/>
          <p:nvPr>
            <p:ph idx="18" type="subTitle"/>
          </p:nvPr>
        </p:nvSpPr>
        <p:spPr>
          <a:xfrm>
            <a:off x="4966735" y="2983400"/>
            <a:ext cx="2409000" cy="419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6" name="Google Shape;46;p36"/>
          <p:cNvSpPr txBox="1"/>
          <p:nvPr>
            <p:ph idx="19" type="title"/>
          </p:nvPr>
        </p:nvSpPr>
        <p:spPr>
          <a:xfrm>
            <a:off x="4966585" y="3569775"/>
            <a:ext cx="653100" cy="36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7" name="Google Shape;47;p36"/>
          <p:cNvSpPr txBox="1"/>
          <p:nvPr>
            <p:ph idx="20" type="title"/>
          </p:nvPr>
        </p:nvSpPr>
        <p:spPr>
          <a:xfrm>
            <a:off x="4966735" y="3933775"/>
            <a:ext cx="2409000" cy="248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48" name="Google Shape;48;p36"/>
          <p:cNvSpPr txBox="1"/>
          <p:nvPr>
            <p:ph idx="21" type="subTitle"/>
          </p:nvPr>
        </p:nvSpPr>
        <p:spPr>
          <a:xfrm>
            <a:off x="4966735" y="4182925"/>
            <a:ext cx="2409000" cy="419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9" name="Google Shape;49;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grpSp>
        <p:nvGrpSpPr>
          <p:cNvPr id="51" name="Google Shape;51;p37"/>
          <p:cNvGrpSpPr/>
          <p:nvPr/>
        </p:nvGrpSpPr>
        <p:grpSpPr>
          <a:xfrm flipH="1" rot="10800000">
            <a:off x="-1549282" y="-13314"/>
            <a:ext cx="10723407" cy="5141884"/>
            <a:chOff x="0" y="1733"/>
            <a:chExt cx="9144203" cy="5141884"/>
          </a:xfrm>
        </p:grpSpPr>
        <p:sp>
          <p:nvSpPr>
            <p:cNvPr id="52" name="Google Shape;52;p37"/>
            <p:cNvSpPr/>
            <p:nvPr/>
          </p:nvSpPr>
          <p:spPr>
            <a:xfrm flipH="1">
              <a:off x="0" y="1733"/>
              <a:ext cx="9144203" cy="5141884"/>
            </a:xfrm>
            <a:custGeom>
              <a:rect b="b" l="l" r="r" t="t"/>
              <a:pathLst>
                <a:path extrusionOk="0" h="160709" w="285801">
                  <a:moveTo>
                    <a:pt x="35480" y="1"/>
                  </a:moveTo>
                  <a:cubicBezTo>
                    <a:pt x="19051" y="1"/>
                    <a:pt x="7565" y="3138"/>
                    <a:pt x="1" y="6459"/>
                  </a:cubicBezTo>
                  <a:lnTo>
                    <a:pt x="1" y="160709"/>
                  </a:lnTo>
                  <a:lnTo>
                    <a:pt x="285801" y="160709"/>
                  </a:lnTo>
                  <a:lnTo>
                    <a:pt x="285801" y="140493"/>
                  </a:lnTo>
                  <a:cubicBezTo>
                    <a:pt x="279489" y="138824"/>
                    <a:pt x="272825" y="137042"/>
                    <a:pt x="265622" y="136377"/>
                  </a:cubicBezTo>
                  <a:cubicBezTo>
                    <a:pt x="149219" y="125484"/>
                    <a:pt x="131538" y="89720"/>
                    <a:pt x="111673" y="56968"/>
                  </a:cubicBezTo>
                  <a:cubicBezTo>
                    <a:pt x="101144" y="39625"/>
                    <a:pt x="83174" y="2330"/>
                    <a:pt x="42742" y="197"/>
                  </a:cubicBezTo>
                  <a:cubicBezTo>
                    <a:pt x="40221" y="63"/>
                    <a:pt x="37801" y="1"/>
                    <a:pt x="35480"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7"/>
            <p:cNvSpPr/>
            <p:nvPr/>
          </p:nvSpPr>
          <p:spPr>
            <a:xfrm flipH="1">
              <a:off x="0" y="214400"/>
              <a:ext cx="9144203" cy="4928945"/>
            </a:xfrm>
            <a:custGeom>
              <a:rect b="b" l="l" r="r" t="t"/>
              <a:pathLst>
                <a:path extrusionOk="0" h="160709" w="285801">
                  <a:moveTo>
                    <a:pt x="35480" y="1"/>
                  </a:moveTo>
                  <a:cubicBezTo>
                    <a:pt x="19051" y="1"/>
                    <a:pt x="7565" y="3138"/>
                    <a:pt x="1" y="6459"/>
                  </a:cubicBezTo>
                  <a:lnTo>
                    <a:pt x="1" y="160709"/>
                  </a:lnTo>
                  <a:lnTo>
                    <a:pt x="285801" y="160709"/>
                  </a:lnTo>
                  <a:lnTo>
                    <a:pt x="285801" y="140493"/>
                  </a:lnTo>
                  <a:cubicBezTo>
                    <a:pt x="279489" y="138824"/>
                    <a:pt x="272825" y="137042"/>
                    <a:pt x="265622" y="136377"/>
                  </a:cubicBezTo>
                  <a:cubicBezTo>
                    <a:pt x="149219" y="125484"/>
                    <a:pt x="131538" y="89720"/>
                    <a:pt x="111673" y="56968"/>
                  </a:cubicBezTo>
                  <a:cubicBezTo>
                    <a:pt x="101144" y="39625"/>
                    <a:pt x="83174" y="2330"/>
                    <a:pt x="42742" y="197"/>
                  </a:cubicBezTo>
                  <a:cubicBezTo>
                    <a:pt x="40221" y="63"/>
                    <a:pt x="37801" y="1"/>
                    <a:pt x="35480"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37"/>
          <p:cNvSpPr txBox="1"/>
          <p:nvPr>
            <p:ph type="title"/>
          </p:nvPr>
        </p:nvSpPr>
        <p:spPr>
          <a:xfrm flipH="1">
            <a:off x="5332703" y="1815600"/>
            <a:ext cx="3091500" cy="6600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4200"/>
              <a:buNone/>
              <a:defRPr sz="36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5" name="Google Shape;55;p37"/>
          <p:cNvSpPr txBox="1"/>
          <p:nvPr>
            <p:ph idx="2" type="title"/>
          </p:nvPr>
        </p:nvSpPr>
        <p:spPr>
          <a:xfrm flipH="1">
            <a:off x="6908603" y="1059450"/>
            <a:ext cx="1515600" cy="6600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3300"/>
              <a:buNone/>
              <a:defRPr sz="4800"/>
            </a:lvl1pPr>
            <a:lvl2pPr lvl="1" algn="l">
              <a:lnSpc>
                <a:spcPct val="100000"/>
              </a:lnSpc>
              <a:spcBef>
                <a:spcPts val="0"/>
              </a:spcBef>
              <a:spcAft>
                <a:spcPts val="0"/>
              </a:spcAft>
              <a:buSzPts val="3300"/>
              <a:buNone/>
              <a:defRPr sz="3300"/>
            </a:lvl2pPr>
            <a:lvl3pPr lvl="2" algn="l">
              <a:lnSpc>
                <a:spcPct val="100000"/>
              </a:lnSpc>
              <a:spcBef>
                <a:spcPts val="0"/>
              </a:spcBef>
              <a:spcAft>
                <a:spcPts val="0"/>
              </a:spcAft>
              <a:buSzPts val="3300"/>
              <a:buNone/>
              <a:defRPr sz="3300"/>
            </a:lvl3pPr>
            <a:lvl4pPr lvl="3" algn="l">
              <a:lnSpc>
                <a:spcPct val="100000"/>
              </a:lnSpc>
              <a:spcBef>
                <a:spcPts val="0"/>
              </a:spcBef>
              <a:spcAft>
                <a:spcPts val="0"/>
              </a:spcAft>
              <a:buSzPts val="3300"/>
              <a:buNone/>
              <a:defRPr sz="3300"/>
            </a:lvl4pPr>
            <a:lvl5pPr lvl="4" algn="l">
              <a:lnSpc>
                <a:spcPct val="100000"/>
              </a:lnSpc>
              <a:spcBef>
                <a:spcPts val="0"/>
              </a:spcBef>
              <a:spcAft>
                <a:spcPts val="0"/>
              </a:spcAft>
              <a:buSzPts val="3300"/>
              <a:buNone/>
              <a:defRPr sz="3300"/>
            </a:lvl5pPr>
            <a:lvl6pPr lvl="5" algn="l">
              <a:lnSpc>
                <a:spcPct val="100000"/>
              </a:lnSpc>
              <a:spcBef>
                <a:spcPts val="0"/>
              </a:spcBef>
              <a:spcAft>
                <a:spcPts val="0"/>
              </a:spcAft>
              <a:buSzPts val="3300"/>
              <a:buNone/>
              <a:defRPr sz="3300"/>
            </a:lvl6pPr>
            <a:lvl7pPr lvl="6" algn="l">
              <a:lnSpc>
                <a:spcPct val="100000"/>
              </a:lnSpc>
              <a:spcBef>
                <a:spcPts val="0"/>
              </a:spcBef>
              <a:spcAft>
                <a:spcPts val="0"/>
              </a:spcAft>
              <a:buSzPts val="3300"/>
              <a:buNone/>
              <a:defRPr sz="3300"/>
            </a:lvl7pPr>
            <a:lvl8pPr lvl="7" algn="l">
              <a:lnSpc>
                <a:spcPct val="100000"/>
              </a:lnSpc>
              <a:spcBef>
                <a:spcPts val="0"/>
              </a:spcBef>
              <a:spcAft>
                <a:spcPts val="0"/>
              </a:spcAft>
              <a:buSzPts val="3300"/>
              <a:buNone/>
              <a:defRPr sz="3300"/>
            </a:lvl8pPr>
            <a:lvl9pPr lvl="8" algn="l">
              <a:lnSpc>
                <a:spcPct val="100000"/>
              </a:lnSpc>
              <a:spcBef>
                <a:spcPts val="0"/>
              </a:spcBef>
              <a:spcAft>
                <a:spcPts val="0"/>
              </a:spcAft>
              <a:buSzPts val="3300"/>
              <a:buNone/>
              <a:defRPr sz="3300"/>
            </a:lvl9pPr>
          </a:lstStyle>
          <a:p/>
        </p:txBody>
      </p:sp>
      <p:sp>
        <p:nvSpPr>
          <p:cNvPr id="56" name="Google Shape;56;p37"/>
          <p:cNvSpPr txBox="1"/>
          <p:nvPr>
            <p:ph idx="1" type="subTitle"/>
          </p:nvPr>
        </p:nvSpPr>
        <p:spPr>
          <a:xfrm flipH="1">
            <a:off x="6026003" y="2571750"/>
            <a:ext cx="2398200" cy="5823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3300"/>
              <a:buNone/>
              <a:defRPr sz="1600"/>
            </a:lvl1pPr>
            <a:lvl2pPr lvl="1" algn="l">
              <a:lnSpc>
                <a:spcPct val="100000"/>
              </a:lnSpc>
              <a:spcBef>
                <a:spcPts val="160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p:txBody>
      </p:sp>
      <p:sp>
        <p:nvSpPr>
          <p:cNvPr id="57" name="Google Shape;57;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grpSp>
        <p:nvGrpSpPr>
          <p:cNvPr id="59" name="Google Shape;59;p38"/>
          <p:cNvGrpSpPr/>
          <p:nvPr/>
        </p:nvGrpSpPr>
        <p:grpSpPr>
          <a:xfrm flipH="1">
            <a:off x="6285749" y="3798674"/>
            <a:ext cx="2858241" cy="1366179"/>
            <a:chOff x="-9225" y="3798674"/>
            <a:chExt cx="2858241" cy="1366179"/>
          </a:xfrm>
        </p:grpSpPr>
        <p:sp>
          <p:nvSpPr>
            <p:cNvPr id="60" name="Google Shape;60;p38"/>
            <p:cNvSpPr/>
            <p:nvPr/>
          </p:nvSpPr>
          <p:spPr>
            <a:xfrm>
              <a:off x="-9225" y="3798674"/>
              <a:ext cx="2858241" cy="1366172"/>
            </a:xfrm>
            <a:custGeom>
              <a:rect b="b" l="l" r="r" t="t"/>
              <a:pathLst>
                <a:path extrusionOk="0" h="44914" w="93967">
                  <a:moveTo>
                    <a:pt x="1" y="1"/>
                  </a:moveTo>
                  <a:lnTo>
                    <a:pt x="1" y="5096"/>
                  </a:lnTo>
                  <a:lnTo>
                    <a:pt x="1" y="44913"/>
                  </a:lnTo>
                  <a:lnTo>
                    <a:pt x="93967" y="44913"/>
                  </a:lnTo>
                  <a:cubicBezTo>
                    <a:pt x="79561" y="34573"/>
                    <a:pt x="46921" y="35916"/>
                    <a:pt x="34736" y="32314"/>
                  </a:cubicBezTo>
                  <a:cubicBezTo>
                    <a:pt x="23605" y="29014"/>
                    <a:pt x="10680" y="9626"/>
                    <a:pt x="1"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8"/>
            <p:cNvSpPr/>
            <p:nvPr/>
          </p:nvSpPr>
          <p:spPr>
            <a:xfrm>
              <a:off x="-9225" y="3953659"/>
              <a:ext cx="2521976" cy="1211194"/>
            </a:xfrm>
            <a:custGeom>
              <a:rect b="b" l="l" r="r" t="t"/>
              <a:pathLst>
                <a:path extrusionOk="0" h="39819" w="82912">
                  <a:moveTo>
                    <a:pt x="1" y="1"/>
                  </a:moveTo>
                  <a:lnTo>
                    <a:pt x="1" y="39818"/>
                  </a:lnTo>
                  <a:lnTo>
                    <a:pt x="82911" y="39818"/>
                  </a:lnTo>
                  <a:cubicBezTo>
                    <a:pt x="66824" y="34924"/>
                    <a:pt x="44374" y="35175"/>
                    <a:pt x="34736" y="32314"/>
                  </a:cubicBezTo>
                  <a:cubicBezTo>
                    <a:pt x="23605" y="29014"/>
                    <a:pt x="10680" y="9638"/>
                    <a:pt x="1"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 name="Google Shape;62;p38"/>
          <p:cNvGrpSpPr/>
          <p:nvPr/>
        </p:nvGrpSpPr>
        <p:grpSpPr>
          <a:xfrm flipH="1">
            <a:off x="-8767" y="0"/>
            <a:ext cx="2735228" cy="2537091"/>
            <a:chOff x="6669475" y="4"/>
            <a:chExt cx="2513765" cy="2331456"/>
          </a:xfrm>
        </p:grpSpPr>
        <p:sp>
          <p:nvSpPr>
            <p:cNvPr id="63" name="Google Shape;63;p38"/>
            <p:cNvSpPr/>
            <p:nvPr/>
          </p:nvSpPr>
          <p:spPr>
            <a:xfrm>
              <a:off x="6669475" y="4"/>
              <a:ext cx="2513765" cy="2331456"/>
            </a:xfrm>
            <a:custGeom>
              <a:rect b="b" l="l" r="r" t="t"/>
              <a:pathLst>
                <a:path extrusionOk="0" h="72383" w="78043">
                  <a:moveTo>
                    <a:pt x="1" y="0"/>
                  </a:moveTo>
                  <a:cubicBezTo>
                    <a:pt x="4004" y="13302"/>
                    <a:pt x="37685" y="11445"/>
                    <a:pt x="45453" y="14570"/>
                  </a:cubicBezTo>
                  <a:cubicBezTo>
                    <a:pt x="66234" y="22952"/>
                    <a:pt x="64075" y="58403"/>
                    <a:pt x="78042" y="72382"/>
                  </a:cubicBezTo>
                  <a:lnTo>
                    <a:pt x="78042" y="67915"/>
                  </a:lnTo>
                  <a:lnTo>
                    <a:pt x="78042" y="0"/>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8"/>
            <p:cNvSpPr/>
            <p:nvPr/>
          </p:nvSpPr>
          <p:spPr>
            <a:xfrm>
              <a:off x="6784687" y="4"/>
              <a:ext cx="2398550" cy="2187542"/>
            </a:xfrm>
            <a:custGeom>
              <a:rect b="b" l="l" r="r" t="t"/>
              <a:pathLst>
                <a:path extrusionOk="0" h="67915" w="74466">
                  <a:moveTo>
                    <a:pt x="0" y="0"/>
                  </a:moveTo>
                  <a:cubicBezTo>
                    <a:pt x="6187" y="10805"/>
                    <a:pt x="34209" y="7843"/>
                    <a:pt x="42315" y="10629"/>
                  </a:cubicBezTo>
                  <a:cubicBezTo>
                    <a:pt x="64878" y="18359"/>
                    <a:pt x="61653" y="53509"/>
                    <a:pt x="74465" y="67915"/>
                  </a:cubicBezTo>
                  <a:lnTo>
                    <a:pt x="74465" y="0"/>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 name="Google Shape;65;p38"/>
          <p:cNvSpPr txBox="1"/>
          <p:nvPr>
            <p:ph type="title"/>
          </p:nvPr>
        </p:nvSpPr>
        <p:spPr>
          <a:xfrm>
            <a:off x="720000" y="445025"/>
            <a:ext cx="7704000" cy="572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38"/>
          <p:cNvSpPr txBox="1"/>
          <p:nvPr>
            <p:ph idx="1" type="body"/>
          </p:nvPr>
        </p:nvSpPr>
        <p:spPr>
          <a:xfrm>
            <a:off x="720000" y="1152475"/>
            <a:ext cx="7704000" cy="3416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7" name="Google Shape;67;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68" name="Shape 68"/>
        <p:cNvGrpSpPr/>
        <p:nvPr/>
      </p:nvGrpSpPr>
      <p:grpSpPr>
        <a:xfrm>
          <a:off x="0" y="0"/>
          <a:ext cx="0" cy="0"/>
          <a:chOff x="0" y="0"/>
          <a:chExt cx="0" cy="0"/>
        </a:xfrm>
      </p:grpSpPr>
      <p:grpSp>
        <p:nvGrpSpPr>
          <p:cNvPr id="69" name="Google Shape;69;p39"/>
          <p:cNvGrpSpPr/>
          <p:nvPr/>
        </p:nvGrpSpPr>
        <p:grpSpPr>
          <a:xfrm flipH="1" rot="10800000">
            <a:off x="5749768" y="3459952"/>
            <a:ext cx="3968943" cy="2132274"/>
            <a:chOff x="4106300" y="1016575"/>
            <a:chExt cx="2479350" cy="1102178"/>
          </a:xfrm>
        </p:grpSpPr>
        <p:sp>
          <p:nvSpPr>
            <p:cNvPr id="70" name="Google Shape;70;p39"/>
            <p:cNvSpPr/>
            <p:nvPr/>
          </p:nvSpPr>
          <p:spPr>
            <a:xfrm>
              <a:off x="4106300" y="1051453"/>
              <a:ext cx="2479350" cy="1067300"/>
            </a:xfrm>
            <a:custGeom>
              <a:rect b="b" l="l" r="r" t="t"/>
              <a:pathLst>
                <a:path extrusionOk="0" h="42692" w="99174">
                  <a:moveTo>
                    <a:pt x="33079" y="1"/>
                  </a:moveTo>
                  <a:cubicBezTo>
                    <a:pt x="18838" y="1"/>
                    <a:pt x="6680" y="392"/>
                    <a:pt x="2184" y="1562"/>
                  </a:cubicBezTo>
                  <a:cubicBezTo>
                    <a:pt x="640" y="1963"/>
                    <a:pt x="0" y="2453"/>
                    <a:pt x="490" y="3055"/>
                  </a:cubicBezTo>
                  <a:cubicBezTo>
                    <a:pt x="9538" y="14085"/>
                    <a:pt x="44185" y="12479"/>
                    <a:pt x="56182" y="15415"/>
                  </a:cubicBezTo>
                  <a:cubicBezTo>
                    <a:pt x="69203" y="18605"/>
                    <a:pt x="85057" y="42691"/>
                    <a:pt x="95223" y="42691"/>
                  </a:cubicBezTo>
                  <a:cubicBezTo>
                    <a:pt x="95775" y="42691"/>
                    <a:pt x="96310" y="42620"/>
                    <a:pt x="96827" y="42471"/>
                  </a:cubicBezTo>
                  <a:cubicBezTo>
                    <a:pt x="97944" y="42144"/>
                    <a:pt x="98697" y="40262"/>
                    <a:pt x="99174" y="37476"/>
                  </a:cubicBezTo>
                  <a:lnTo>
                    <a:pt x="99174" y="34289"/>
                  </a:lnTo>
                  <a:lnTo>
                    <a:pt x="99174" y="5138"/>
                  </a:lnTo>
                  <a:cubicBezTo>
                    <a:pt x="99023" y="2942"/>
                    <a:pt x="98898" y="1587"/>
                    <a:pt x="98898" y="1587"/>
                  </a:cubicBezTo>
                  <a:cubicBezTo>
                    <a:pt x="98898" y="1587"/>
                    <a:pt x="61763" y="1"/>
                    <a:pt x="33079"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9"/>
            <p:cNvSpPr/>
            <p:nvPr/>
          </p:nvSpPr>
          <p:spPr>
            <a:xfrm>
              <a:off x="4112875" y="1016575"/>
              <a:ext cx="2472775" cy="1010025"/>
            </a:xfrm>
            <a:custGeom>
              <a:rect b="b" l="l" r="r" t="t"/>
              <a:pathLst>
                <a:path extrusionOk="0" h="40401" w="98911">
                  <a:moveTo>
                    <a:pt x="239" y="1"/>
                  </a:moveTo>
                  <a:cubicBezTo>
                    <a:pt x="13" y="239"/>
                    <a:pt x="1" y="490"/>
                    <a:pt x="227" y="766"/>
                  </a:cubicBezTo>
                  <a:cubicBezTo>
                    <a:pt x="716" y="1356"/>
                    <a:pt x="1293" y="1920"/>
                    <a:pt x="1921" y="2448"/>
                  </a:cubicBezTo>
                  <a:cubicBezTo>
                    <a:pt x="12964" y="11633"/>
                    <a:pt x="44574" y="10341"/>
                    <a:pt x="55919" y="13127"/>
                  </a:cubicBezTo>
                  <a:cubicBezTo>
                    <a:pt x="68942" y="16317"/>
                    <a:pt x="84801" y="40401"/>
                    <a:pt x="94966" y="40401"/>
                  </a:cubicBezTo>
                  <a:cubicBezTo>
                    <a:pt x="95516" y="40401"/>
                    <a:pt x="96049" y="40330"/>
                    <a:pt x="96564" y="40182"/>
                  </a:cubicBezTo>
                  <a:cubicBezTo>
                    <a:pt x="97681" y="39856"/>
                    <a:pt x="98434" y="37973"/>
                    <a:pt x="98911" y="35175"/>
                  </a:cubicBezTo>
                  <a:lnTo>
                    <a:pt x="98911" y="6024"/>
                  </a:lnTo>
                  <a:lnTo>
                    <a:pt x="98911" y="2849"/>
                  </a:lnTo>
                  <a:cubicBezTo>
                    <a:pt x="98823" y="1594"/>
                    <a:pt x="98748" y="615"/>
                    <a:pt x="98698"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 name="Google Shape;72;p39"/>
          <p:cNvGrpSpPr/>
          <p:nvPr/>
        </p:nvGrpSpPr>
        <p:grpSpPr>
          <a:xfrm flipH="1">
            <a:off x="-8822" y="-4"/>
            <a:ext cx="3021294" cy="2802177"/>
            <a:chOff x="6669475" y="4"/>
            <a:chExt cx="2513765" cy="2331456"/>
          </a:xfrm>
        </p:grpSpPr>
        <p:sp>
          <p:nvSpPr>
            <p:cNvPr id="73" name="Google Shape;73;p39"/>
            <p:cNvSpPr/>
            <p:nvPr/>
          </p:nvSpPr>
          <p:spPr>
            <a:xfrm>
              <a:off x="6669475" y="4"/>
              <a:ext cx="2513765" cy="2331456"/>
            </a:xfrm>
            <a:custGeom>
              <a:rect b="b" l="l" r="r" t="t"/>
              <a:pathLst>
                <a:path extrusionOk="0" h="72383" w="78043">
                  <a:moveTo>
                    <a:pt x="1" y="0"/>
                  </a:moveTo>
                  <a:cubicBezTo>
                    <a:pt x="4004" y="13302"/>
                    <a:pt x="37685" y="11445"/>
                    <a:pt x="45453" y="14570"/>
                  </a:cubicBezTo>
                  <a:cubicBezTo>
                    <a:pt x="66234" y="22952"/>
                    <a:pt x="64075" y="58403"/>
                    <a:pt x="78042" y="72382"/>
                  </a:cubicBezTo>
                  <a:lnTo>
                    <a:pt x="78042" y="67915"/>
                  </a:lnTo>
                  <a:lnTo>
                    <a:pt x="78042" y="0"/>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9"/>
            <p:cNvSpPr/>
            <p:nvPr/>
          </p:nvSpPr>
          <p:spPr>
            <a:xfrm>
              <a:off x="6784687" y="4"/>
              <a:ext cx="2398550" cy="2187542"/>
            </a:xfrm>
            <a:custGeom>
              <a:rect b="b" l="l" r="r" t="t"/>
              <a:pathLst>
                <a:path extrusionOk="0" h="67915" w="74466">
                  <a:moveTo>
                    <a:pt x="0" y="0"/>
                  </a:moveTo>
                  <a:cubicBezTo>
                    <a:pt x="6187" y="10805"/>
                    <a:pt x="34209" y="7843"/>
                    <a:pt x="42315" y="10629"/>
                  </a:cubicBezTo>
                  <a:cubicBezTo>
                    <a:pt x="64878" y="18359"/>
                    <a:pt x="61653" y="53509"/>
                    <a:pt x="74465" y="67915"/>
                  </a:cubicBezTo>
                  <a:lnTo>
                    <a:pt x="74465" y="0"/>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39"/>
          <p:cNvSpPr txBox="1"/>
          <p:nvPr>
            <p:ph type="title"/>
          </p:nvPr>
        </p:nvSpPr>
        <p:spPr>
          <a:xfrm>
            <a:off x="720000" y="445025"/>
            <a:ext cx="7704000" cy="477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76" name="Google Shape;76;p39"/>
          <p:cNvSpPr txBox="1"/>
          <p:nvPr>
            <p:ph idx="1" type="subTitle"/>
          </p:nvPr>
        </p:nvSpPr>
        <p:spPr>
          <a:xfrm>
            <a:off x="720025" y="4125900"/>
            <a:ext cx="1782300" cy="4776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39"/>
          <p:cNvSpPr txBox="1"/>
          <p:nvPr>
            <p:ph idx="2" type="subTitle"/>
          </p:nvPr>
        </p:nvSpPr>
        <p:spPr>
          <a:xfrm>
            <a:off x="3433180" y="4125900"/>
            <a:ext cx="1782300" cy="4776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8" name="Google Shape;78;p39"/>
          <p:cNvSpPr txBox="1"/>
          <p:nvPr>
            <p:ph idx="3" type="subTitle"/>
          </p:nvPr>
        </p:nvSpPr>
        <p:spPr>
          <a:xfrm>
            <a:off x="3433163" y="2441250"/>
            <a:ext cx="1782300" cy="4776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9" name="Google Shape;79;p39"/>
          <p:cNvSpPr txBox="1"/>
          <p:nvPr>
            <p:ph idx="4" type="subTitle"/>
          </p:nvPr>
        </p:nvSpPr>
        <p:spPr>
          <a:xfrm>
            <a:off x="720000" y="2441250"/>
            <a:ext cx="1782300" cy="4776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400">
                <a:solidFill>
                  <a:schemeClr val="dk2"/>
                </a:solidFill>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80" name="Google Shape;80;p39"/>
          <p:cNvSpPr txBox="1"/>
          <p:nvPr>
            <p:ph idx="5" type="title"/>
          </p:nvPr>
        </p:nvSpPr>
        <p:spPr>
          <a:xfrm>
            <a:off x="720000" y="2078250"/>
            <a:ext cx="1782300" cy="3630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81" name="Google Shape;81;p39"/>
          <p:cNvSpPr txBox="1"/>
          <p:nvPr>
            <p:ph idx="6" type="title"/>
          </p:nvPr>
        </p:nvSpPr>
        <p:spPr>
          <a:xfrm>
            <a:off x="720000" y="3762900"/>
            <a:ext cx="1782300" cy="3630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82" name="Google Shape;82;p39"/>
          <p:cNvSpPr txBox="1"/>
          <p:nvPr>
            <p:ph idx="7" type="title"/>
          </p:nvPr>
        </p:nvSpPr>
        <p:spPr>
          <a:xfrm>
            <a:off x="3433175" y="2078250"/>
            <a:ext cx="1782300" cy="3630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83" name="Google Shape;83;p39"/>
          <p:cNvSpPr txBox="1"/>
          <p:nvPr>
            <p:ph idx="8" type="title"/>
          </p:nvPr>
        </p:nvSpPr>
        <p:spPr>
          <a:xfrm>
            <a:off x="3433175" y="3762900"/>
            <a:ext cx="1782300" cy="3630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000"/>
              <a:buNone/>
              <a:defRPr b="1" sz="1600">
                <a:solidFill>
                  <a:schemeClr val="dk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2800"/>
              <a:buNone/>
              <a:defRPr b="1" sz="1600">
                <a:solidFill>
                  <a:schemeClr val="dk1"/>
                </a:solidFill>
                <a:latin typeface="Montserrat SemiBold"/>
                <a:ea typeface="Montserrat SemiBold"/>
                <a:cs typeface="Montserrat SemiBold"/>
                <a:sym typeface="Montserrat SemiBold"/>
              </a:defRPr>
            </a:lvl9pPr>
          </a:lstStyle>
          <a:p/>
        </p:txBody>
      </p:sp>
      <p:sp>
        <p:nvSpPr>
          <p:cNvPr id="84" name="Google Shape;8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grpSp>
        <p:nvGrpSpPr>
          <p:cNvPr id="86" name="Google Shape;86;p40"/>
          <p:cNvGrpSpPr/>
          <p:nvPr/>
        </p:nvGrpSpPr>
        <p:grpSpPr>
          <a:xfrm flipH="1">
            <a:off x="-397202" y="-309433"/>
            <a:ext cx="4694153" cy="2086754"/>
            <a:chOff x="4106300" y="1016575"/>
            <a:chExt cx="2479350" cy="1102178"/>
          </a:xfrm>
        </p:grpSpPr>
        <p:sp>
          <p:nvSpPr>
            <p:cNvPr id="87" name="Google Shape;87;p40"/>
            <p:cNvSpPr/>
            <p:nvPr/>
          </p:nvSpPr>
          <p:spPr>
            <a:xfrm>
              <a:off x="4106300" y="1051453"/>
              <a:ext cx="2479350" cy="1067300"/>
            </a:xfrm>
            <a:custGeom>
              <a:rect b="b" l="l" r="r" t="t"/>
              <a:pathLst>
                <a:path extrusionOk="0" h="42692" w="99174">
                  <a:moveTo>
                    <a:pt x="33079" y="1"/>
                  </a:moveTo>
                  <a:cubicBezTo>
                    <a:pt x="18838" y="1"/>
                    <a:pt x="6680" y="392"/>
                    <a:pt x="2184" y="1562"/>
                  </a:cubicBezTo>
                  <a:cubicBezTo>
                    <a:pt x="640" y="1963"/>
                    <a:pt x="0" y="2453"/>
                    <a:pt x="490" y="3055"/>
                  </a:cubicBezTo>
                  <a:cubicBezTo>
                    <a:pt x="9538" y="14085"/>
                    <a:pt x="44185" y="12479"/>
                    <a:pt x="56182" y="15415"/>
                  </a:cubicBezTo>
                  <a:cubicBezTo>
                    <a:pt x="69203" y="18605"/>
                    <a:pt x="85057" y="42691"/>
                    <a:pt x="95223" y="42691"/>
                  </a:cubicBezTo>
                  <a:cubicBezTo>
                    <a:pt x="95775" y="42691"/>
                    <a:pt x="96310" y="42620"/>
                    <a:pt x="96827" y="42471"/>
                  </a:cubicBezTo>
                  <a:cubicBezTo>
                    <a:pt x="97944" y="42144"/>
                    <a:pt x="98697" y="40262"/>
                    <a:pt x="99174" y="37476"/>
                  </a:cubicBezTo>
                  <a:lnTo>
                    <a:pt x="99174" y="34289"/>
                  </a:lnTo>
                  <a:lnTo>
                    <a:pt x="99174" y="5138"/>
                  </a:lnTo>
                  <a:cubicBezTo>
                    <a:pt x="99023" y="2942"/>
                    <a:pt x="98898" y="1587"/>
                    <a:pt x="98898" y="1587"/>
                  </a:cubicBezTo>
                  <a:cubicBezTo>
                    <a:pt x="98898" y="1587"/>
                    <a:pt x="61763" y="1"/>
                    <a:pt x="33079"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40"/>
            <p:cNvSpPr/>
            <p:nvPr/>
          </p:nvSpPr>
          <p:spPr>
            <a:xfrm>
              <a:off x="4112875" y="1016575"/>
              <a:ext cx="2472775" cy="1010025"/>
            </a:xfrm>
            <a:custGeom>
              <a:rect b="b" l="l" r="r" t="t"/>
              <a:pathLst>
                <a:path extrusionOk="0" h="40401" w="98911">
                  <a:moveTo>
                    <a:pt x="239" y="1"/>
                  </a:moveTo>
                  <a:cubicBezTo>
                    <a:pt x="13" y="239"/>
                    <a:pt x="1" y="490"/>
                    <a:pt x="227" y="766"/>
                  </a:cubicBezTo>
                  <a:cubicBezTo>
                    <a:pt x="716" y="1356"/>
                    <a:pt x="1293" y="1920"/>
                    <a:pt x="1921" y="2448"/>
                  </a:cubicBezTo>
                  <a:cubicBezTo>
                    <a:pt x="12964" y="11633"/>
                    <a:pt x="44574" y="10341"/>
                    <a:pt x="55919" y="13127"/>
                  </a:cubicBezTo>
                  <a:cubicBezTo>
                    <a:pt x="68942" y="16317"/>
                    <a:pt x="84801" y="40401"/>
                    <a:pt x="94966" y="40401"/>
                  </a:cubicBezTo>
                  <a:cubicBezTo>
                    <a:pt x="95516" y="40401"/>
                    <a:pt x="96049" y="40330"/>
                    <a:pt x="96564" y="40182"/>
                  </a:cubicBezTo>
                  <a:cubicBezTo>
                    <a:pt x="97681" y="39856"/>
                    <a:pt x="98434" y="37973"/>
                    <a:pt x="98911" y="35175"/>
                  </a:cubicBezTo>
                  <a:lnTo>
                    <a:pt x="98911" y="6024"/>
                  </a:lnTo>
                  <a:lnTo>
                    <a:pt x="98911" y="2849"/>
                  </a:lnTo>
                  <a:cubicBezTo>
                    <a:pt x="98823" y="1594"/>
                    <a:pt x="98748" y="615"/>
                    <a:pt x="98698"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40"/>
          <p:cNvGrpSpPr/>
          <p:nvPr/>
        </p:nvGrpSpPr>
        <p:grpSpPr>
          <a:xfrm flipH="1" rot="10800000">
            <a:off x="6630225" y="2833397"/>
            <a:ext cx="2513765" cy="2331456"/>
            <a:chOff x="6669475" y="4"/>
            <a:chExt cx="2513765" cy="2331456"/>
          </a:xfrm>
        </p:grpSpPr>
        <p:sp>
          <p:nvSpPr>
            <p:cNvPr id="90" name="Google Shape;90;p40"/>
            <p:cNvSpPr/>
            <p:nvPr/>
          </p:nvSpPr>
          <p:spPr>
            <a:xfrm>
              <a:off x="6669475" y="4"/>
              <a:ext cx="2513765" cy="2331456"/>
            </a:xfrm>
            <a:custGeom>
              <a:rect b="b" l="l" r="r" t="t"/>
              <a:pathLst>
                <a:path extrusionOk="0" h="72383" w="78043">
                  <a:moveTo>
                    <a:pt x="1" y="0"/>
                  </a:moveTo>
                  <a:cubicBezTo>
                    <a:pt x="4004" y="13302"/>
                    <a:pt x="37685" y="11445"/>
                    <a:pt x="45453" y="14570"/>
                  </a:cubicBezTo>
                  <a:cubicBezTo>
                    <a:pt x="66234" y="22952"/>
                    <a:pt x="64075" y="58403"/>
                    <a:pt x="78042" y="72382"/>
                  </a:cubicBezTo>
                  <a:lnTo>
                    <a:pt x="78042" y="67915"/>
                  </a:lnTo>
                  <a:lnTo>
                    <a:pt x="78042" y="0"/>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0"/>
            <p:cNvSpPr/>
            <p:nvPr/>
          </p:nvSpPr>
          <p:spPr>
            <a:xfrm>
              <a:off x="6784687" y="4"/>
              <a:ext cx="2398550" cy="2187542"/>
            </a:xfrm>
            <a:custGeom>
              <a:rect b="b" l="l" r="r" t="t"/>
              <a:pathLst>
                <a:path extrusionOk="0" h="67915" w="74466">
                  <a:moveTo>
                    <a:pt x="0" y="0"/>
                  </a:moveTo>
                  <a:cubicBezTo>
                    <a:pt x="6187" y="10805"/>
                    <a:pt x="34209" y="7843"/>
                    <a:pt x="42315" y="10629"/>
                  </a:cubicBezTo>
                  <a:cubicBezTo>
                    <a:pt x="64878" y="18359"/>
                    <a:pt x="61653" y="53509"/>
                    <a:pt x="74465" y="67915"/>
                  </a:cubicBezTo>
                  <a:lnTo>
                    <a:pt x="74465" y="0"/>
                  </a:ln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2" name="Google Shape;92;p40"/>
          <p:cNvSpPr txBox="1"/>
          <p:nvPr>
            <p:ph type="title"/>
          </p:nvPr>
        </p:nvSpPr>
        <p:spPr>
          <a:xfrm>
            <a:off x="720000" y="445025"/>
            <a:ext cx="7704000" cy="572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93" name="Google Shape;93;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4" name="Shape 94"/>
        <p:cNvGrpSpPr/>
        <p:nvPr/>
      </p:nvGrpSpPr>
      <p:grpSpPr>
        <a:xfrm>
          <a:off x="0" y="0"/>
          <a:ext cx="0" cy="0"/>
          <a:chOff x="0" y="0"/>
          <a:chExt cx="0" cy="0"/>
        </a:xfrm>
      </p:grpSpPr>
      <p:grpSp>
        <p:nvGrpSpPr>
          <p:cNvPr id="95" name="Google Shape;95;p41"/>
          <p:cNvGrpSpPr/>
          <p:nvPr/>
        </p:nvGrpSpPr>
        <p:grpSpPr>
          <a:xfrm flipH="1" rot="10800000">
            <a:off x="5988468" y="3237452"/>
            <a:ext cx="3968943" cy="2132274"/>
            <a:chOff x="4106300" y="1016575"/>
            <a:chExt cx="2479350" cy="1102178"/>
          </a:xfrm>
        </p:grpSpPr>
        <p:sp>
          <p:nvSpPr>
            <p:cNvPr id="96" name="Google Shape;96;p41"/>
            <p:cNvSpPr/>
            <p:nvPr/>
          </p:nvSpPr>
          <p:spPr>
            <a:xfrm>
              <a:off x="4106300" y="1051453"/>
              <a:ext cx="2479350" cy="1067300"/>
            </a:xfrm>
            <a:custGeom>
              <a:rect b="b" l="l" r="r" t="t"/>
              <a:pathLst>
                <a:path extrusionOk="0" h="42692" w="99174">
                  <a:moveTo>
                    <a:pt x="33079" y="1"/>
                  </a:moveTo>
                  <a:cubicBezTo>
                    <a:pt x="18838" y="1"/>
                    <a:pt x="6680" y="392"/>
                    <a:pt x="2184" y="1562"/>
                  </a:cubicBezTo>
                  <a:cubicBezTo>
                    <a:pt x="640" y="1963"/>
                    <a:pt x="0" y="2453"/>
                    <a:pt x="490" y="3055"/>
                  </a:cubicBezTo>
                  <a:cubicBezTo>
                    <a:pt x="9538" y="14085"/>
                    <a:pt x="44185" y="12479"/>
                    <a:pt x="56182" y="15415"/>
                  </a:cubicBezTo>
                  <a:cubicBezTo>
                    <a:pt x="69203" y="18605"/>
                    <a:pt x="85057" y="42691"/>
                    <a:pt x="95223" y="42691"/>
                  </a:cubicBezTo>
                  <a:cubicBezTo>
                    <a:pt x="95775" y="42691"/>
                    <a:pt x="96310" y="42620"/>
                    <a:pt x="96827" y="42471"/>
                  </a:cubicBezTo>
                  <a:cubicBezTo>
                    <a:pt x="97944" y="42144"/>
                    <a:pt x="98697" y="40262"/>
                    <a:pt x="99174" y="37476"/>
                  </a:cubicBezTo>
                  <a:lnTo>
                    <a:pt x="99174" y="34289"/>
                  </a:lnTo>
                  <a:lnTo>
                    <a:pt x="99174" y="5138"/>
                  </a:lnTo>
                  <a:cubicBezTo>
                    <a:pt x="99023" y="2942"/>
                    <a:pt x="98898" y="1587"/>
                    <a:pt x="98898" y="1587"/>
                  </a:cubicBezTo>
                  <a:cubicBezTo>
                    <a:pt x="98898" y="1587"/>
                    <a:pt x="61763" y="1"/>
                    <a:pt x="33079"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41"/>
            <p:cNvSpPr/>
            <p:nvPr/>
          </p:nvSpPr>
          <p:spPr>
            <a:xfrm>
              <a:off x="4112875" y="1016575"/>
              <a:ext cx="2472775" cy="1010025"/>
            </a:xfrm>
            <a:custGeom>
              <a:rect b="b" l="l" r="r" t="t"/>
              <a:pathLst>
                <a:path extrusionOk="0" h="40401" w="98911">
                  <a:moveTo>
                    <a:pt x="239" y="1"/>
                  </a:moveTo>
                  <a:cubicBezTo>
                    <a:pt x="13" y="239"/>
                    <a:pt x="1" y="490"/>
                    <a:pt x="227" y="766"/>
                  </a:cubicBezTo>
                  <a:cubicBezTo>
                    <a:pt x="716" y="1356"/>
                    <a:pt x="1293" y="1920"/>
                    <a:pt x="1921" y="2448"/>
                  </a:cubicBezTo>
                  <a:cubicBezTo>
                    <a:pt x="12964" y="11633"/>
                    <a:pt x="44574" y="10341"/>
                    <a:pt x="55919" y="13127"/>
                  </a:cubicBezTo>
                  <a:cubicBezTo>
                    <a:pt x="68942" y="16317"/>
                    <a:pt x="84801" y="40401"/>
                    <a:pt x="94966" y="40401"/>
                  </a:cubicBezTo>
                  <a:cubicBezTo>
                    <a:pt x="95516" y="40401"/>
                    <a:pt x="96049" y="40330"/>
                    <a:pt x="96564" y="40182"/>
                  </a:cubicBezTo>
                  <a:cubicBezTo>
                    <a:pt x="97681" y="39856"/>
                    <a:pt x="98434" y="37973"/>
                    <a:pt x="98911" y="35175"/>
                  </a:cubicBezTo>
                  <a:lnTo>
                    <a:pt x="98911" y="6024"/>
                  </a:lnTo>
                  <a:lnTo>
                    <a:pt x="98911" y="2849"/>
                  </a:lnTo>
                  <a:cubicBezTo>
                    <a:pt x="98823" y="1594"/>
                    <a:pt x="98748" y="615"/>
                    <a:pt x="98698"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41"/>
          <p:cNvSpPr txBox="1"/>
          <p:nvPr>
            <p:ph type="title"/>
          </p:nvPr>
        </p:nvSpPr>
        <p:spPr>
          <a:xfrm>
            <a:off x="4572000" y="1395150"/>
            <a:ext cx="3852000" cy="23532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3000"/>
              <a:buNone/>
              <a:defRPr sz="4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9" name="Google Shape;99;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 name="Shape 100"/>
        <p:cNvGrpSpPr/>
        <p:nvPr/>
      </p:nvGrpSpPr>
      <p:grpSpPr>
        <a:xfrm>
          <a:off x="0" y="0"/>
          <a:ext cx="0" cy="0"/>
          <a:chOff x="0" y="0"/>
          <a:chExt cx="0" cy="0"/>
        </a:xfrm>
      </p:grpSpPr>
      <p:sp>
        <p:nvSpPr>
          <p:cNvPr id="101" name="Google Shape;101;p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4">
    <p:spTree>
      <p:nvGrpSpPr>
        <p:cNvPr id="102" name="Shape 102"/>
        <p:cNvGrpSpPr/>
        <p:nvPr/>
      </p:nvGrpSpPr>
      <p:grpSpPr>
        <a:xfrm>
          <a:off x="0" y="0"/>
          <a:ext cx="0" cy="0"/>
          <a:chOff x="0" y="0"/>
          <a:chExt cx="0" cy="0"/>
        </a:xfrm>
      </p:grpSpPr>
      <p:grpSp>
        <p:nvGrpSpPr>
          <p:cNvPr id="103" name="Google Shape;103;p43"/>
          <p:cNvGrpSpPr/>
          <p:nvPr/>
        </p:nvGrpSpPr>
        <p:grpSpPr>
          <a:xfrm>
            <a:off x="0" y="121275"/>
            <a:ext cx="9473394" cy="5326992"/>
            <a:chOff x="0" y="1733"/>
            <a:chExt cx="9144203" cy="5141884"/>
          </a:xfrm>
        </p:grpSpPr>
        <p:sp>
          <p:nvSpPr>
            <p:cNvPr id="104" name="Google Shape;104;p43"/>
            <p:cNvSpPr/>
            <p:nvPr/>
          </p:nvSpPr>
          <p:spPr>
            <a:xfrm>
              <a:off x="0" y="1733"/>
              <a:ext cx="9144203" cy="5141884"/>
            </a:xfrm>
            <a:custGeom>
              <a:rect b="b" l="l" r="r" t="t"/>
              <a:pathLst>
                <a:path extrusionOk="0" h="160709" w="285801">
                  <a:moveTo>
                    <a:pt x="35480" y="1"/>
                  </a:moveTo>
                  <a:cubicBezTo>
                    <a:pt x="19051" y="1"/>
                    <a:pt x="7565" y="3138"/>
                    <a:pt x="1" y="6459"/>
                  </a:cubicBezTo>
                  <a:lnTo>
                    <a:pt x="1" y="160709"/>
                  </a:lnTo>
                  <a:lnTo>
                    <a:pt x="285801" y="160709"/>
                  </a:lnTo>
                  <a:lnTo>
                    <a:pt x="285801" y="140493"/>
                  </a:lnTo>
                  <a:cubicBezTo>
                    <a:pt x="279489" y="138824"/>
                    <a:pt x="272825" y="137042"/>
                    <a:pt x="265622" y="136377"/>
                  </a:cubicBezTo>
                  <a:cubicBezTo>
                    <a:pt x="149219" y="125484"/>
                    <a:pt x="131538" y="89720"/>
                    <a:pt x="111673" y="56968"/>
                  </a:cubicBezTo>
                  <a:cubicBezTo>
                    <a:pt x="101144" y="39625"/>
                    <a:pt x="83174" y="2330"/>
                    <a:pt x="42742" y="197"/>
                  </a:cubicBezTo>
                  <a:cubicBezTo>
                    <a:pt x="40221" y="63"/>
                    <a:pt x="37801" y="1"/>
                    <a:pt x="35480"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3"/>
            <p:cNvSpPr/>
            <p:nvPr/>
          </p:nvSpPr>
          <p:spPr>
            <a:xfrm>
              <a:off x="0" y="214400"/>
              <a:ext cx="9144203" cy="4928945"/>
            </a:xfrm>
            <a:custGeom>
              <a:rect b="b" l="l" r="r" t="t"/>
              <a:pathLst>
                <a:path extrusionOk="0" h="160709" w="285801">
                  <a:moveTo>
                    <a:pt x="35480" y="1"/>
                  </a:moveTo>
                  <a:cubicBezTo>
                    <a:pt x="19051" y="1"/>
                    <a:pt x="7565" y="3138"/>
                    <a:pt x="1" y="6459"/>
                  </a:cubicBezTo>
                  <a:lnTo>
                    <a:pt x="1" y="160709"/>
                  </a:lnTo>
                  <a:lnTo>
                    <a:pt x="285801" y="160709"/>
                  </a:lnTo>
                  <a:lnTo>
                    <a:pt x="285801" y="140493"/>
                  </a:lnTo>
                  <a:cubicBezTo>
                    <a:pt x="279489" y="138824"/>
                    <a:pt x="272825" y="137042"/>
                    <a:pt x="265622" y="136377"/>
                  </a:cubicBezTo>
                  <a:cubicBezTo>
                    <a:pt x="149219" y="125484"/>
                    <a:pt x="131538" y="89720"/>
                    <a:pt x="111673" y="56968"/>
                  </a:cubicBezTo>
                  <a:cubicBezTo>
                    <a:pt x="101144" y="39625"/>
                    <a:pt x="83174" y="2330"/>
                    <a:pt x="42742" y="197"/>
                  </a:cubicBezTo>
                  <a:cubicBezTo>
                    <a:pt x="40221" y="63"/>
                    <a:pt x="37801" y="1"/>
                    <a:pt x="35480" y="1"/>
                  </a:cubicBezTo>
                  <a:close/>
                </a:path>
              </a:pathLst>
            </a:custGeom>
            <a:solidFill>
              <a:srgbClr val="5BCEC7">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 name="Google Shape;106;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5"/>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720000" y="445025"/>
            <a:ext cx="7704000" cy="5727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1"/>
              </a:buClr>
              <a:buSzPts val="3000"/>
              <a:buFont typeface="Montserrat"/>
              <a:buNone/>
              <a:defRPr b="1" i="0" sz="3000" u="none" cap="none" strike="noStrike">
                <a:solidFill>
                  <a:schemeClr val="dk1"/>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3"/>
          <p:cNvSpPr txBox="1"/>
          <p:nvPr>
            <p:ph idx="1" type="body"/>
          </p:nvPr>
        </p:nvSpPr>
        <p:spPr>
          <a:xfrm>
            <a:off x="720000" y="1152475"/>
            <a:ext cx="7704000" cy="3416400"/>
          </a:xfrm>
          <a:prstGeom prst="rect">
            <a:avLst/>
          </a:prstGeom>
          <a:noFill/>
          <a:ln>
            <a:noFill/>
          </a:ln>
        </p:spPr>
        <p:txBody>
          <a:bodyPr anchorCtr="0" anchor="t" bIns="0" lIns="0" spcFirstLastPara="1" rIns="0" wrap="square" tIns="0">
            <a:noAutofit/>
          </a:bodyPr>
          <a:lstStyle>
            <a:lvl1pPr indent="-317500" lvl="0" marL="4572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1pPr>
            <a:lvl2pPr indent="-317500" lvl="1" marL="914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1600"/>
              </a:spcBef>
              <a:spcAft>
                <a:spcPts val="160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8" name="Google Shape;8;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54">
          <p15:clr>
            <a:srgbClr val="EA4335"/>
          </p15:clr>
        </p15:guide>
        <p15:guide id="3" pos="5306">
          <p15:clr>
            <a:srgbClr val="EA4335"/>
          </p15:clr>
        </p15:guide>
        <p15:guide id="4" orient="horz" pos="2900">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https://www.kaggle.com/datasets/tawsifurrahman/covid19-radiography-databas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
          <p:cNvSpPr txBox="1"/>
          <p:nvPr>
            <p:ph type="ctrTitle"/>
          </p:nvPr>
        </p:nvSpPr>
        <p:spPr>
          <a:xfrm>
            <a:off x="3846655" y="154525"/>
            <a:ext cx="4864200" cy="19674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200"/>
              <a:buNone/>
            </a:pPr>
            <a:r>
              <a:rPr lang="fr-FR" sz="3900">
                <a:solidFill>
                  <a:srgbClr val="22726D"/>
                </a:solidFill>
                <a:latin typeface="Fira Sans Extra Condensed"/>
                <a:ea typeface="Fira Sans Extra Condensed"/>
                <a:cs typeface="Fira Sans Extra Condensed"/>
                <a:sym typeface="Fira Sans Extra Condensed"/>
              </a:rPr>
              <a:t>Prédiction de la COVID-19 </a:t>
            </a:r>
            <a:endParaRPr sz="3900">
              <a:solidFill>
                <a:srgbClr val="22726D"/>
              </a:solidFill>
              <a:latin typeface="Fira Sans Extra Condensed"/>
              <a:ea typeface="Fira Sans Extra Condensed"/>
              <a:cs typeface="Fira Sans Extra Condensed"/>
              <a:sym typeface="Fira Sans Extra Condensed"/>
            </a:endParaRPr>
          </a:p>
          <a:p>
            <a:pPr indent="0" lvl="0" marL="0" rtl="0" algn="ctr">
              <a:lnSpc>
                <a:spcPct val="100000"/>
              </a:lnSpc>
              <a:spcBef>
                <a:spcPts val="0"/>
              </a:spcBef>
              <a:spcAft>
                <a:spcPts val="0"/>
              </a:spcAft>
              <a:buSzPts val="5200"/>
              <a:buNone/>
            </a:pPr>
            <a:r>
              <a:rPr lang="fr-FR" sz="3900">
                <a:solidFill>
                  <a:srgbClr val="22726D"/>
                </a:solidFill>
                <a:latin typeface="Fira Sans Extra Condensed"/>
                <a:ea typeface="Fira Sans Extra Condensed"/>
                <a:cs typeface="Fira Sans Extra Condensed"/>
                <a:sym typeface="Fira Sans Extra Condensed"/>
              </a:rPr>
              <a:t>à partir de radiographies pulmonaires</a:t>
            </a:r>
            <a:endParaRPr sz="3900">
              <a:solidFill>
                <a:srgbClr val="22726D"/>
              </a:solidFill>
              <a:latin typeface="Fira Sans Extra Condensed"/>
              <a:ea typeface="Fira Sans Extra Condensed"/>
              <a:cs typeface="Fira Sans Extra Condensed"/>
              <a:sym typeface="Fira Sans Extra Condensed"/>
            </a:endParaRPr>
          </a:p>
        </p:txBody>
      </p:sp>
      <p:sp>
        <p:nvSpPr>
          <p:cNvPr id="112" name="Google Shape;112;p1"/>
          <p:cNvSpPr txBox="1"/>
          <p:nvPr>
            <p:ph idx="1" type="subTitle"/>
          </p:nvPr>
        </p:nvSpPr>
        <p:spPr>
          <a:xfrm>
            <a:off x="5332775" y="2420319"/>
            <a:ext cx="2737800" cy="13416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800"/>
              <a:buNone/>
            </a:pPr>
            <a:r>
              <a:rPr b="1" lang="fr-FR" sz="2000">
                <a:latin typeface="Fira Sans Extra Condensed"/>
                <a:ea typeface="Fira Sans Extra Condensed"/>
                <a:cs typeface="Fira Sans Extra Condensed"/>
                <a:sym typeface="Fira Sans Extra Condensed"/>
              </a:rPr>
              <a:t>Réalisé par :</a:t>
            </a:r>
            <a:endParaRPr/>
          </a:p>
          <a:p>
            <a:pPr indent="0" lvl="0" marL="0" rtl="0" algn="ctr">
              <a:lnSpc>
                <a:spcPct val="100000"/>
              </a:lnSpc>
              <a:spcBef>
                <a:spcPts val="0"/>
              </a:spcBef>
              <a:spcAft>
                <a:spcPts val="0"/>
              </a:spcAft>
              <a:buSzPts val="2800"/>
              <a:buNone/>
            </a:pPr>
            <a:r>
              <a:rPr lang="fr-FR" sz="1800">
                <a:latin typeface="Fira Sans Extra Condensed"/>
                <a:ea typeface="Fira Sans Extra Condensed"/>
                <a:cs typeface="Fira Sans Extra Condensed"/>
                <a:sym typeface="Fira Sans Extra Condensed"/>
              </a:rPr>
              <a:t>Issra Fguir </a:t>
            </a:r>
            <a:endParaRPr/>
          </a:p>
          <a:p>
            <a:pPr indent="0" lvl="0" marL="0" rtl="0" algn="ctr">
              <a:lnSpc>
                <a:spcPct val="100000"/>
              </a:lnSpc>
              <a:spcBef>
                <a:spcPts val="0"/>
              </a:spcBef>
              <a:spcAft>
                <a:spcPts val="0"/>
              </a:spcAft>
              <a:buSzPts val="2800"/>
              <a:buNone/>
            </a:pPr>
            <a:r>
              <a:rPr lang="fr-FR" sz="1800">
                <a:latin typeface="Fira Sans Extra Condensed"/>
                <a:ea typeface="Fira Sans Extra Condensed"/>
                <a:cs typeface="Fira Sans Extra Condensed"/>
                <a:sym typeface="Fira Sans Extra Condensed"/>
              </a:rPr>
              <a:t>Ameni Ben Salah</a:t>
            </a:r>
            <a:endParaRPr sz="1800">
              <a:latin typeface="Fira Sans Extra Condensed"/>
              <a:ea typeface="Fira Sans Extra Condensed"/>
              <a:cs typeface="Fira Sans Extra Condensed"/>
              <a:sym typeface="Fira Sans Extra Condensed"/>
            </a:endParaRPr>
          </a:p>
          <a:p>
            <a:pPr indent="0" lvl="0" marL="0" rtl="0" algn="ctr">
              <a:lnSpc>
                <a:spcPct val="100000"/>
              </a:lnSpc>
              <a:spcBef>
                <a:spcPts val="0"/>
              </a:spcBef>
              <a:spcAft>
                <a:spcPts val="0"/>
              </a:spcAft>
              <a:buSzPts val="2800"/>
              <a:buNone/>
            </a:pPr>
            <a:r>
              <a:rPr lang="fr-FR" sz="1800">
                <a:latin typeface="Fira Sans Extra Condensed"/>
                <a:ea typeface="Fira Sans Extra Condensed"/>
                <a:cs typeface="Fira Sans Extra Condensed"/>
                <a:sym typeface="Fira Sans Extra Condensed"/>
              </a:rPr>
              <a:t>Zeinebou Sidi Ould Ahmed</a:t>
            </a:r>
            <a:endParaRPr/>
          </a:p>
          <a:p>
            <a:pPr indent="0" lvl="0" marL="0" rtl="0" algn="l">
              <a:lnSpc>
                <a:spcPct val="100000"/>
              </a:lnSpc>
              <a:spcBef>
                <a:spcPts val="0"/>
              </a:spcBef>
              <a:spcAft>
                <a:spcPts val="0"/>
              </a:spcAft>
              <a:buSzPts val="2800"/>
              <a:buNone/>
            </a:pPr>
            <a:r>
              <a:t/>
            </a:r>
            <a:endParaRPr/>
          </a:p>
        </p:txBody>
      </p:sp>
      <p:pic>
        <p:nvPicPr>
          <p:cNvPr id="113" name="Google Shape;113;p1"/>
          <p:cNvPicPr preferRelativeResize="0"/>
          <p:nvPr/>
        </p:nvPicPr>
        <p:blipFill rotWithShape="1">
          <a:blip r:embed="rId3">
            <a:alphaModFix/>
          </a:blip>
          <a:srcRect b="0" l="0" r="0" t="0"/>
          <a:stretch/>
        </p:blipFill>
        <p:spPr>
          <a:xfrm>
            <a:off x="2027393" y="2280469"/>
            <a:ext cx="1187378" cy="1205481"/>
          </a:xfrm>
          <a:prstGeom prst="rect">
            <a:avLst/>
          </a:prstGeom>
          <a:noFill/>
          <a:ln>
            <a:noFill/>
          </a:ln>
          <a:effectLst>
            <a:outerShdw blurRad="76128" rotWithShape="0" algn="bl" dir="5400000" dist="25376">
              <a:srgbClr val="000000">
                <a:alpha val="49411"/>
              </a:srgbClr>
            </a:outerShdw>
          </a:effectLst>
        </p:spPr>
      </p:pic>
      <p:pic>
        <p:nvPicPr>
          <p:cNvPr id="114" name="Google Shape;114;p1"/>
          <p:cNvPicPr preferRelativeResize="0"/>
          <p:nvPr/>
        </p:nvPicPr>
        <p:blipFill rotWithShape="1">
          <a:blip r:embed="rId4">
            <a:alphaModFix/>
          </a:blip>
          <a:srcRect b="0" l="0" r="0" t="0"/>
          <a:stretch/>
        </p:blipFill>
        <p:spPr>
          <a:xfrm>
            <a:off x="835771" y="1387751"/>
            <a:ext cx="1332772" cy="1320412"/>
          </a:xfrm>
          <a:prstGeom prst="rect">
            <a:avLst/>
          </a:prstGeom>
          <a:noFill/>
          <a:ln>
            <a:noFill/>
          </a:ln>
          <a:effectLst>
            <a:outerShdw blurRad="76128" rotWithShape="0" algn="bl" dir="5400000" dist="25376">
              <a:srgbClr val="000000">
                <a:alpha val="49411"/>
              </a:srgbClr>
            </a:outerShdw>
          </a:effectLst>
        </p:spPr>
      </p:pic>
      <p:pic>
        <p:nvPicPr>
          <p:cNvPr id="115" name="Google Shape;115;p1"/>
          <p:cNvPicPr preferRelativeResize="0"/>
          <p:nvPr/>
        </p:nvPicPr>
        <p:blipFill rotWithShape="1">
          <a:blip r:embed="rId5">
            <a:alphaModFix/>
          </a:blip>
          <a:srcRect b="0" l="0" r="0" t="0"/>
          <a:stretch/>
        </p:blipFill>
        <p:spPr>
          <a:xfrm>
            <a:off x="476970" y="2822023"/>
            <a:ext cx="1539577" cy="1528697"/>
          </a:xfrm>
          <a:prstGeom prst="rect">
            <a:avLst/>
          </a:prstGeom>
          <a:noFill/>
          <a:ln>
            <a:noFill/>
          </a:ln>
          <a:effectLst>
            <a:outerShdw blurRad="76128" rotWithShape="0" algn="bl" dir="5400000" dist="25376">
              <a:srgbClr val="000000">
                <a:alpha val="49411"/>
              </a:srgbClr>
            </a:outerShdw>
          </a:effectLst>
        </p:spPr>
      </p:pic>
      <p:sp>
        <p:nvSpPr>
          <p:cNvPr id="116" name="Google Shape;116;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9d95ce2960_0_11"/>
          <p:cNvSpPr txBox="1"/>
          <p:nvPr>
            <p:ph type="title"/>
          </p:nvPr>
        </p:nvSpPr>
        <p:spPr>
          <a:xfrm>
            <a:off x="720000" y="445025"/>
            <a:ext cx="7704000" cy="572700"/>
          </a:xfrm>
          <a:prstGeom prst="rect">
            <a:avLst/>
          </a:prstGeom>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lang="fr-FR">
                <a:solidFill>
                  <a:srgbClr val="22726D"/>
                </a:solidFill>
                <a:latin typeface="Fira Sans Condensed"/>
                <a:ea typeface="Fira Sans Condensed"/>
                <a:cs typeface="Fira Sans Condensed"/>
                <a:sym typeface="Fira Sans Condensed"/>
              </a:rPr>
              <a:t>Plan</a:t>
            </a:r>
            <a:endParaRPr/>
          </a:p>
        </p:txBody>
      </p:sp>
      <p:sp>
        <p:nvSpPr>
          <p:cNvPr id="122" name="Google Shape;122;g39d95ce2960_0_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sp>
        <p:nvSpPr>
          <p:cNvPr id="123" name="Google Shape;123;g39d95ce2960_0_11"/>
          <p:cNvSpPr txBox="1"/>
          <p:nvPr/>
        </p:nvSpPr>
        <p:spPr>
          <a:xfrm>
            <a:off x="2341277" y="1611325"/>
            <a:ext cx="847800" cy="50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fr-FR" sz="3000">
                <a:solidFill>
                  <a:srgbClr val="1B1B1B"/>
                </a:solidFill>
                <a:latin typeface="Montserrat"/>
                <a:ea typeface="Montserrat"/>
                <a:cs typeface="Montserrat"/>
                <a:sym typeface="Montserrat"/>
              </a:rPr>
              <a:t>01</a:t>
            </a:r>
            <a:endParaRPr b="1" sz="3000">
              <a:solidFill>
                <a:srgbClr val="1B1B1B"/>
              </a:solidFill>
              <a:latin typeface="Montserrat"/>
              <a:ea typeface="Montserrat"/>
              <a:cs typeface="Montserrat"/>
              <a:sym typeface="Montserrat"/>
            </a:endParaRPr>
          </a:p>
        </p:txBody>
      </p:sp>
      <p:sp>
        <p:nvSpPr>
          <p:cNvPr id="124" name="Google Shape;124;g39d95ce2960_0_11"/>
          <p:cNvSpPr txBox="1"/>
          <p:nvPr/>
        </p:nvSpPr>
        <p:spPr>
          <a:xfrm>
            <a:off x="2383065" y="3078917"/>
            <a:ext cx="734700" cy="50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fr-FR" sz="3000">
                <a:solidFill>
                  <a:srgbClr val="1B1B1B"/>
                </a:solidFill>
                <a:latin typeface="Montserrat"/>
                <a:ea typeface="Montserrat"/>
                <a:cs typeface="Montserrat"/>
                <a:sym typeface="Montserrat"/>
              </a:rPr>
              <a:t>03</a:t>
            </a:r>
            <a:endParaRPr b="1" sz="3000">
              <a:solidFill>
                <a:srgbClr val="1B1B1B"/>
              </a:solidFill>
              <a:latin typeface="Montserrat"/>
              <a:ea typeface="Montserrat"/>
              <a:cs typeface="Montserrat"/>
              <a:sym typeface="Montserrat"/>
            </a:endParaRPr>
          </a:p>
        </p:txBody>
      </p:sp>
      <p:sp>
        <p:nvSpPr>
          <p:cNvPr id="125" name="Google Shape;125;g39d95ce2960_0_11"/>
          <p:cNvSpPr txBox="1"/>
          <p:nvPr/>
        </p:nvSpPr>
        <p:spPr>
          <a:xfrm>
            <a:off x="5390950" y="3078917"/>
            <a:ext cx="734700" cy="50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fr-FR" sz="3000">
                <a:solidFill>
                  <a:srgbClr val="1B1B1B"/>
                </a:solidFill>
                <a:latin typeface="Montserrat"/>
                <a:ea typeface="Montserrat"/>
                <a:cs typeface="Montserrat"/>
                <a:sym typeface="Montserrat"/>
              </a:rPr>
              <a:t>04</a:t>
            </a:r>
            <a:endParaRPr b="1" sz="3000">
              <a:solidFill>
                <a:srgbClr val="1B1B1B"/>
              </a:solidFill>
              <a:latin typeface="Montserrat"/>
              <a:ea typeface="Montserrat"/>
              <a:cs typeface="Montserrat"/>
              <a:sym typeface="Montserrat"/>
            </a:endParaRPr>
          </a:p>
        </p:txBody>
      </p:sp>
      <p:sp>
        <p:nvSpPr>
          <p:cNvPr id="126" name="Google Shape;126;g39d95ce2960_0_11"/>
          <p:cNvSpPr txBox="1"/>
          <p:nvPr/>
        </p:nvSpPr>
        <p:spPr>
          <a:xfrm>
            <a:off x="5390950" y="1516975"/>
            <a:ext cx="734700" cy="50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fr-FR" sz="3000">
                <a:solidFill>
                  <a:srgbClr val="1B1B1B"/>
                </a:solidFill>
                <a:latin typeface="Montserrat"/>
                <a:ea typeface="Montserrat"/>
                <a:cs typeface="Montserrat"/>
                <a:sym typeface="Montserrat"/>
              </a:rPr>
              <a:t>02</a:t>
            </a:r>
            <a:endParaRPr b="1" sz="3000">
              <a:solidFill>
                <a:srgbClr val="1B1B1B"/>
              </a:solidFill>
              <a:latin typeface="Montserrat"/>
              <a:ea typeface="Montserrat"/>
              <a:cs typeface="Montserrat"/>
              <a:sym typeface="Montserrat"/>
            </a:endParaRPr>
          </a:p>
        </p:txBody>
      </p:sp>
      <p:sp>
        <p:nvSpPr>
          <p:cNvPr id="127" name="Google Shape;127;g39d95ce2960_0_11"/>
          <p:cNvSpPr txBox="1"/>
          <p:nvPr/>
        </p:nvSpPr>
        <p:spPr>
          <a:xfrm>
            <a:off x="2115377" y="2096338"/>
            <a:ext cx="1860000" cy="419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fr-FR">
                <a:solidFill>
                  <a:srgbClr val="1B1B1B"/>
                </a:solidFill>
                <a:latin typeface="Montserrat"/>
                <a:ea typeface="Montserrat"/>
                <a:cs typeface="Montserrat"/>
                <a:sym typeface="Montserrat"/>
              </a:rPr>
              <a:t>Introduction</a:t>
            </a:r>
            <a:endParaRPr b="1">
              <a:solidFill>
                <a:srgbClr val="1B1B1B"/>
              </a:solidFill>
              <a:latin typeface="Montserrat"/>
              <a:ea typeface="Montserrat"/>
              <a:cs typeface="Montserrat"/>
              <a:sym typeface="Montserrat"/>
            </a:endParaRPr>
          </a:p>
        </p:txBody>
      </p:sp>
      <p:sp>
        <p:nvSpPr>
          <p:cNvPr id="128" name="Google Shape;128;g39d95ce2960_0_11"/>
          <p:cNvSpPr txBox="1"/>
          <p:nvPr/>
        </p:nvSpPr>
        <p:spPr>
          <a:xfrm>
            <a:off x="4928018" y="2210313"/>
            <a:ext cx="2305500" cy="447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fr-FR">
                <a:solidFill>
                  <a:srgbClr val="1B1B1B"/>
                </a:solidFill>
                <a:latin typeface="Montserrat"/>
                <a:ea typeface="Montserrat"/>
                <a:cs typeface="Montserrat"/>
                <a:sym typeface="Montserrat"/>
              </a:rPr>
              <a:t>Entraînement des modèles et évaluation</a:t>
            </a:r>
            <a:endParaRPr b="1">
              <a:solidFill>
                <a:srgbClr val="1B1B1B"/>
              </a:solidFill>
              <a:latin typeface="Montserrat"/>
              <a:ea typeface="Montserrat"/>
              <a:cs typeface="Montserrat"/>
              <a:sym typeface="Montserrat"/>
            </a:endParaRPr>
          </a:p>
        </p:txBody>
      </p:sp>
      <p:sp>
        <p:nvSpPr>
          <p:cNvPr id="129" name="Google Shape;129;g39d95ce2960_0_11"/>
          <p:cNvSpPr txBox="1"/>
          <p:nvPr/>
        </p:nvSpPr>
        <p:spPr>
          <a:xfrm>
            <a:off x="2034290" y="3605365"/>
            <a:ext cx="2381400" cy="447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fr-FR">
                <a:solidFill>
                  <a:srgbClr val="1B1B1B"/>
                </a:solidFill>
                <a:latin typeface="Montserrat"/>
                <a:ea typeface="Montserrat"/>
                <a:cs typeface="Montserrat"/>
                <a:sym typeface="Montserrat"/>
              </a:rPr>
              <a:t>AI eXplainable</a:t>
            </a:r>
            <a:endParaRPr b="1">
              <a:solidFill>
                <a:srgbClr val="1B1B1B"/>
              </a:solidFill>
              <a:latin typeface="Montserrat"/>
              <a:ea typeface="Montserrat"/>
              <a:cs typeface="Montserrat"/>
              <a:sym typeface="Montserrat"/>
            </a:endParaRPr>
          </a:p>
        </p:txBody>
      </p:sp>
      <p:sp>
        <p:nvSpPr>
          <p:cNvPr id="130" name="Google Shape;130;g39d95ce2960_0_11"/>
          <p:cNvSpPr txBox="1"/>
          <p:nvPr/>
        </p:nvSpPr>
        <p:spPr>
          <a:xfrm>
            <a:off x="5324775" y="3605365"/>
            <a:ext cx="2305500" cy="447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fr-FR">
                <a:solidFill>
                  <a:srgbClr val="1B1B1B"/>
                </a:solidFill>
                <a:latin typeface="Montserrat"/>
                <a:ea typeface="Montserrat"/>
                <a:cs typeface="Montserrat"/>
                <a:sym typeface="Montserrat"/>
              </a:rPr>
              <a:t>Conclusion</a:t>
            </a:r>
            <a:endParaRPr b="1">
              <a:solidFill>
                <a:srgbClr val="1B1B1B"/>
              </a:solidFill>
              <a:latin typeface="Montserrat"/>
              <a:ea typeface="Montserrat"/>
              <a:cs typeface="Montserrat"/>
              <a:sym typeface="Montserrat"/>
            </a:endParaRPr>
          </a:p>
        </p:txBody>
      </p:sp>
      <p:cxnSp>
        <p:nvCxnSpPr>
          <p:cNvPr id="131" name="Google Shape;131;g39d95ce2960_0_11"/>
          <p:cNvCxnSpPr/>
          <p:nvPr/>
        </p:nvCxnSpPr>
        <p:spPr>
          <a:xfrm>
            <a:off x="2147569" y="3594603"/>
            <a:ext cx="1205700" cy="0"/>
          </a:xfrm>
          <a:prstGeom prst="straightConnector1">
            <a:avLst/>
          </a:prstGeom>
          <a:noFill/>
          <a:ln cap="flat" cmpd="sng" w="9525">
            <a:solidFill>
              <a:srgbClr val="1B1B1B"/>
            </a:solidFill>
            <a:prstDash val="solid"/>
            <a:round/>
            <a:headEnd len="med" w="med" type="none"/>
            <a:tailEnd len="med" w="med" type="none"/>
          </a:ln>
        </p:spPr>
      </p:cxnSp>
      <p:cxnSp>
        <p:nvCxnSpPr>
          <p:cNvPr id="132" name="Google Shape;132;g39d95ce2960_0_11"/>
          <p:cNvCxnSpPr/>
          <p:nvPr/>
        </p:nvCxnSpPr>
        <p:spPr>
          <a:xfrm>
            <a:off x="5324783" y="3594603"/>
            <a:ext cx="1205700" cy="0"/>
          </a:xfrm>
          <a:prstGeom prst="straightConnector1">
            <a:avLst/>
          </a:prstGeom>
          <a:noFill/>
          <a:ln cap="flat" cmpd="sng" w="9525">
            <a:solidFill>
              <a:srgbClr val="1B1B1B"/>
            </a:solidFill>
            <a:prstDash val="solid"/>
            <a:round/>
            <a:headEnd len="med" w="med" type="none"/>
            <a:tailEnd len="med" w="med" type="none"/>
          </a:ln>
        </p:spPr>
      </p:cxnSp>
      <p:cxnSp>
        <p:nvCxnSpPr>
          <p:cNvPr id="133" name="Google Shape;133;g39d95ce2960_0_11"/>
          <p:cNvCxnSpPr/>
          <p:nvPr/>
        </p:nvCxnSpPr>
        <p:spPr>
          <a:xfrm>
            <a:off x="2162331" y="2116088"/>
            <a:ext cx="1205700" cy="0"/>
          </a:xfrm>
          <a:prstGeom prst="straightConnector1">
            <a:avLst/>
          </a:prstGeom>
          <a:noFill/>
          <a:ln cap="flat" cmpd="sng" w="9525">
            <a:solidFill>
              <a:srgbClr val="1B1B1B"/>
            </a:solidFill>
            <a:prstDash val="solid"/>
            <a:round/>
            <a:headEnd len="med" w="med" type="none"/>
            <a:tailEnd len="med" w="med" type="none"/>
          </a:ln>
        </p:spPr>
      </p:cxnSp>
      <p:cxnSp>
        <p:nvCxnSpPr>
          <p:cNvPr id="134" name="Google Shape;134;g39d95ce2960_0_11"/>
          <p:cNvCxnSpPr/>
          <p:nvPr/>
        </p:nvCxnSpPr>
        <p:spPr>
          <a:xfrm>
            <a:off x="5155451" y="2116088"/>
            <a:ext cx="1205700" cy="0"/>
          </a:xfrm>
          <a:prstGeom prst="straightConnector1">
            <a:avLst/>
          </a:prstGeom>
          <a:noFill/>
          <a:ln cap="flat" cmpd="sng" w="9525">
            <a:solidFill>
              <a:srgbClr val="1B1B1B"/>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
          <p:cNvSpPr txBox="1"/>
          <p:nvPr>
            <p:ph idx="1" type="subTitle"/>
          </p:nvPr>
        </p:nvSpPr>
        <p:spPr>
          <a:xfrm>
            <a:off x="1288175" y="1113850"/>
            <a:ext cx="7268700" cy="3489900"/>
          </a:xfrm>
          <a:prstGeom prst="rect">
            <a:avLst/>
          </a:prstGeom>
          <a:noFill/>
          <a:ln>
            <a:noFill/>
          </a:ln>
        </p:spPr>
        <p:txBody>
          <a:bodyPr anchorCtr="0" anchor="ctr" bIns="0" lIns="0" spcFirstLastPara="1" rIns="0" wrap="square" tIns="0">
            <a:noAutofit/>
          </a:bodyPr>
          <a:lstStyle/>
          <a:p>
            <a:pPr indent="-317500" lvl="0" marL="457200" rtl="0" algn="ctr">
              <a:lnSpc>
                <a:spcPct val="100000"/>
              </a:lnSpc>
              <a:spcBef>
                <a:spcPts val="0"/>
              </a:spcBef>
              <a:spcAft>
                <a:spcPts val="0"/>
              </a:spcAft>
              <a:buSzPts val="2800"/>
              <a:buNone/>
            </a:pPr>
            <a:r>
              <a:rPr lang="fr-FR" sz="1300">
                <a:latin typeface="Fira Sans Condensed"/>
                <a:ea typeface="Fira Sans Condensed"/>
                <a:cs typeface="Fira Sans Condensed"/>
                <a:sym typeface="Fira Sans Condensed"/>
              </a:rPr>
              <a:t>La pandémie de COVID-19 a montré l’importance d’un diagnostic rapide et fiable des infections pulmonaires. Les radiographies pulmonaires, méthode non invasive, permettent de détecter des anomalies telles que les opacités en verre dépoli.</a:t>
            </a:r>
            <a:br>
              <a:rPr lang="fr-FR" sz="1300">
                <a:latin typeface="Fira Sans Condensed"/>
                <a:ea typeface="Fira Sans Condensed"/>
                <a:cs typeface="Fira Sans Condensed"/>
                <a:sym typeface="Fira Sans Condensed"/>
              </a:rPr>
            </a:br>
            <a:br>
              <a:rPr lang="fr-FR" sz="1300">
                <a:latin typeface="Fira Sans Condensed"/>
                <a:ea typeface="Fira Sans Condensed"/>
                <a:cs typeface="Fira Sans Condensed"/>
                <a:sym typeface="Fira Sans Condensed"/>
              </a:rPr>
            </a:br>
            <a:br>
              <a:rPr lang="fr-FR" sz="1300">
                <a:latin typeface="Fira Sans Condensed"/>
                <a:ea typeface="Fira Sans Condensed"/>
                <a:cs typeface="Fira Sans Condensed"/>
                <a:sym typeface="Fira Sans Condensed"/>
              </a:rPr>
            </a:br>
            <a:r>
              <a:rPr lang="fr-FR" sz="1300">
                <a:latin typeface="Fira Sans Condensed"/>
                <a:ea typeface="Fira Sans Condensed"/>
                <a:cs typeface="Fira Sans Condensed"/>
                <a:sym typeface="Fira Sans Condensed"/>
              </a:rPr>
              <a:t>L’intelligence artificielle (IA) aide les radiologues en classant automatiquement les images comme COVID-19 ou Normal, ce qui optimise la prise en charge des patients.</a:t>
            </a:r>
            <a:endParaRPr sz="1300">
              <a:latin typeface="Fira Sans Condensed"/>
              <a:ea typeface="Fira Sans Condensed"/>
              <a:cs typeface="Fira Sans Condensed"/>
              <a:sym typeface="Fira Sans Condensed"/>
            </a:endParaRPr>
          </a:p>
          <a:p>
            <a:pPr indent="-317500" lvl="0" marL="914400" rtl="0" algn="ctr">
              <a:spcBef>
                <a:spcPts val="0"/>
              </a:spcBef>
              <a:spcAft>
                <a:spcPts val="0"/>
              </a:spcAft>
              <a:buClr>
                <a:schemeClr val="dk2"/>
              </a:buClr>
              <a:buSzPts val="1100"/>
              <a:buFont typeface="Arial"/>
              <a:buNone/>
            </a:pPr>
            <a:r>
              <a:rPr lang="fr-FR" sz="1300">
                <a:latin typeface="Fira Sans Condensed"/>
                <a:ea typeface="Fira Sans Condensed"/>
                <a:cs typeface="Fira Sans Condensed"/>
                <a:sym typeface="Fira Sans Condensed"/>
              </a:rPr>
              <a:t>Ce projet utilise un réseau de neurones convolutionnel (CNN, VGG19) pour analyser et classer les radiographies, en extrayant des caractéristiques clés afin d’améliorer la précision de la détection et d’autre modéle  qu’on va la voir</a:t>
            </a:r>
            <a:endParaRPr sz="1300">
              <a:latin typeface="Fira Sans Condensed"/>
              <a:ea typeface="Fira Sans Condensed"/>
              <a:cs typeface="Fira Sans Condensed"/>
              <a:sym typeface="Fira Sans Condensed"/>
            </a:endParaRPr>
          </a:p>
          <a:p>
            <a:pPr indent="-317500" lvl="0" marL="457200" rtl="0" algn="ctr">
              <a:lnSpc>
                <a:spcPct val="100000"/>
              </a:lnSpc>
              <a:spcBef>
                <a:spcPts val="0"/>
              </a:spcBef>
              <a:spcAft>
                <a:spcPts val="0"/>
              </a:spcAft>
              <a:buSzPts val="2800"/>
              <a:buNone/>
            </a:pPr>
            <a:r>
              <a:t/>
            </a:r>
            <a:endParaRPr sz="1300">
              <a:latin typeface="Fira Sans Condensed"/>
              <a:ea typeface="Fira Sans Condensed"/>
              <a:cs typeface="Fira Sans Condensed"/>
              <a:sym typeface="Fira Sans Condensed"/>
            </a:endParaRPr>
          </a:p>
          <a:p>
            <a:pPr indent="-317500" lvl="0" marL="457200" rtl="0" algn="l">
              <a:lnSpc>
                <a:spcPct val="100000"/>
              </a:lnSpc>
              <a:spcBef>
                <a:spcPts val="0"/>
              </a:spcBef>
              <a:spcAft>
                <a:spcPts val="0"/>
              </a:spcAft>
              <a:buSzPts val="2800"/>
              <a:buNone/>
            </a:pPr>
            <a:r>
              <a:t/>
            </a:r>
            <a:endParaRPr/>
          </a:p>
          <a:p>
            <a:pPr indent="-317500" lvl="0" marL="457200" rtl="0" algn="l">
              <a:lnSpc>
                <a:spcPct val="100000"/>
              </a:lnSpc>
              <a:spcBef>
                <a:spcPts val="0"/>
              </a:spcBef>
              <a:spcAft>
                <a:spcPts val="0"/>
              </a:spcAft>
              <a:buSzPts val="2800"/>
              <a:buNone/>
            </a:pPr>
            <a:r>
              <a:t/>
            </a:r>
            <a:endParaRPr sz="1300">
              <a:latin typeface="Fira Sans Condensed"/>
              <a:ea typeface="Fira Sans Condensed"/>
              <a:cs typeface="Fira Sans Condensed"/>
              <a:sym typeface="Fira Sans Condensed"/>
            </a:endParaRPr>
          </a:p>
          <a:p>
            <a:pPr indent="0" lvl="0" marL="139700" rtl="0" algn="l">
              <a:lnSpc>
                <a:spcPct val="100000"/>
              </a:lnSpc>
              <a:spcBef>
                <a:spcPts val="0"/>
              </a:spcBef>
              <a:spcAft>
                <a:spcPts val="0"/>
              </a:spcAft>
              <a:buSzPts val="2800"/>
              <a:buNone/>
            </a:pPr>
            <a:r>
              <a:t/>
            </a:r>
            <a:endParaRPr sz="1400">
              <a:solidFill>
                <a:srgbClr val="1A5D55"/>
              </a:solidFill>
              <a:latin typeface="Fira Sans Condensed"/>
              <a:ea typeface="Fira Sans Condensed"/>
              <a:cs typeface="Fira Sans Condensed"/>
              <a:sym typeface="Fira Sans Condensed"/>
            </a:endParaRPr>
          </a:p>
        </p:txBody>
      </p:sp>
      <p:sp>
        <p:nvSpPr>
          <p:cNvPr id="140" name="Google Shape;140;p2"/>
          <p:cNvSpPr txBox="1"/>
          <p:nvPr>
            <p:ph type="title"/>
          </p:nvPr>
        </p:nvSpPr>
        <p:spPr>
          <a:xfrm>
            <a:off x="720000" y="445025"/>
            <a:ext cx="7704000" cy="477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000"/>
              <a:buNone/>
            </a:pPr>
            <a:r>
              <a:rPr lang="fr-FR">
                <a:solidFill>
                  <a:srgbClr val="22726D"/>
                </a:solidFill>
                <a:latin typeface="Fira Sans Condensed"/>
                <a:ea typeface="Fira Sans Condensed"/>
                <a:cs typeface="Fira Sans Condensed"/>
                <a:sym typeface="Fira Sans Condensed"/>
              </a:rPr>
              <a:t>INTRODUCTION</a:t>
            </a:r>
            <a:endParaRPr>
              <a:solidFill>
                <a:srgbClr val="22726D"/>
              </a:solidFill>
              <a:latin typeface="Fira Sans Condensed"/>
              <a:ea typeface="Fira Sans Condensed"/>
              <a:cs typeface="Fira Sans Condensed"/>
              <a:sym typeface="Fira Sans Condensed"/>
            </a:endParaRPr>
          </a:p>
        </p:txBody>
      </p:sp>
      <p:sp>
        <p:nvSpPr>
          <p:cNvPr id="141" name="Google Shape;141;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type="title"/>
          </p:nvPr>
        </p:nvSpPr>
        <p:spPr>
          <a:xfrm>
            <a:off x="720000" y="445025"/>
            <a:ext cx="7704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000"/>
              <a:buNone/>
            </a:pPr>
            <a:r>
              <a:rPr lang="fr-FR">
                <a:solidFill>
                  <a:srgbClr val="22726D"/>
                </a:solidFill>
                <a:latin typeface="Fira Sans Extra Condensed"/>
                <a:ea typeface="Fira Sans Extra Condensed"/>
                <a:cs typeface="Fira Sans Extra Condensed"/>
                <a:sym typeface="Fira Sans Extra Condensed"/>
              </a:rPr>
              <a:t>Compréhension du métier </a:t>
            </a:r>
            <a:endParaRPr>
              <a:solidFill>
                <a:srgbClr val="22726D"/>
              </a:solidFill>
              <a:latin typeface="Fira Sans Extra Condensed"/>
              <a:ea typeface="Fira Sans Extra Condensed"/>
              <a:cs typeface="Fira Sans Extra Condensed"/>
              <a:sym typeface="Fira Sans Extra Condensed"/>
            </a:endParaRPr>
          </a:p>
        </p:txBody>
      </p:sp>
      <p:sp>
        <p:nvSpPr>
          <p:cNvPr id="147" name="Google Shape;147;p5"/>
          <p:cNvSpPr txBox="1"/>
          <p:nvPr/>
        </p:nvSpPr>
        <p:spPr>
          <a:xfrm>
            <a:off x="738835" y="1360627"/>
            <a:ext cx="7402983" cy="20928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rgbClr val="000000"/>
                </a:solidFill>
                <a:latin typeface="Arial"/>
                <a:ea typeface="Arial"/>
                <a:cs typeface="Arial"/>
                <a:sym typeface="Arial"/>
              </a:rPr>
              <a:t>Objectif du projet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L’objectif principal est de </a:t>
            </a:r>
            <a:r>
              <a:rPr b="1" i="0" lang="fr-FR" sz="1400" u="none" cap="none" strike="noStrike">
                <a:solidFill>
                  <a:srgbClr val="000000"/>
                </a:solidFill>
                <a:latin typeface="Arial"/>
                <a:ea typeface="Arial"/>
                <a:cs typeface="Arial"/>
                <a:sym typeface="Arial"/>
              </a:rPr>
              <a:t>détecter automatiquement la présence de la COVID-19</a:t>
            </a:r>
            <a:r>
              <a:rPr b="0" i="0" lang="fr-FR" sz="1400" u="none" cap="none" strike="noStrike">
                <a:solidFill>
                  <a:srgbClr val="000000"/>
                </a:solidFill>
                <a:latin typeface="Arial"/>
                <a:ea typeface="Arial"/>
                <a:cs typeface="Arial"/>
                <a:sym typeface="Arial"/>
              </a:rPr>
              <a:t> à partir d’images de </a:t>
            </a:r>
            <a:r>
              <a:rPr b="1" i="0" lang="fr-FR" sz="1400" u="none" cap="none" strike="noStrike">
                <a:solidFill>
                  <a:srgbClr val="000000"/>
                </a:solidFill>
                <a:latin typeface="Arial"/>
                <a:ea typeface="Arial"/>
                <a:cs typeface="Arial"/>
                <a:sym typeface="Arial"/>
              </a:rPr>
              <a:t>radiographies pulmonaires</a:t>
            </a:r>
            <a:r>
              <a:rPr b="0" i="0" lang="fr-FR" sz="1400" u="none" cap="none" strike="noStrike">
                <a:solidFill>
                  <a:srgbClr val="000000"/>
                </a:solidFill>
                <a:latin typeface="Arial"/>
                <a:ea typeface="Arial"/>
                <a:cs typeface="Arial"/>
                <a:sym typeface="Arial"/>
              </a:rPr>
              <a:t> (X-ray).</a:t>
            </a:r>
            <a:br>
              <a:rPr b="0" i="0" lang="fr-FR" sz="1400" u="none" cap="none" strike="noStrike">
                <a:solidFill>
                  <a:srgbClr val="000000"/>
                </a:solidFill>
                <a:latin typeface="Arial"/>
                <a:ea typeface="Arial"/>
                <a:cs typeface="Arial"/>
                <a:sym typeface="Arial"/>
              </a:rPr>
            </a:br>
            <a:r>
              <a:rPr b="0" i="0" lang="fr-FR" sz="1400" u="none" cap="none" strike="noStrike">
                <a:solidFill>
                  <a:srgbClr val="000000"/>
                </a:solidFill>
                <a:latin typeface="Arial"/>
                <a:ea typeface="Arial"/>
                <a:cs typeface="Arial"/>
                <a:sym typeface="Arial"/>
              </a:rPr>
              <a:t>Ce type d’automatisation aide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a:t>
            </a:r>
            <a:r>
              <a:rPr b="1" i="0" lang="fr-FR" sz="1400" u="none" cap="none" strike="noStrike">
                <a:solidFill>
                  <a:srgbClr val="000000"/>
                </a:solidFill>
                <a:latin typeface="Arial"/>
                <a:ea typeface="Arial"/>
                <a:cs typeface="Arial"/>
                <a:sym typeface="Arial"/>
              </a:rPr>
              <a:t>radiologues</a:t>
            </a:r>
            <a:r>
              <a:rPr b="0" i="0" lang="fr-FR" sz="1400" u="none" cap="none" strike="noStrike">
                <a:solidFill>
                  <a:srgbClr val="000000"/>
                </a:solidFill>
                <a:latin typeface="Arial"/>
                <a:ea typeface="Arial"/>
                <a:cs typeface="Arial"/>
                <a:sym typeface="Arial"/>
              </a:rPr>
              <a:t> à diagnostiquer plus rapidement,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les </a:t>
            </a:r>
            <a:r>
              <a:rPr b="1" i="0" lang="fr-FR" sz="1400" u="none" cap="none" strike="noStrike">
                <a:solidFill>
                  <a:srgbClr val="000000"/>
                </a:solidFill>
                <a:latin typeface="Arial"/>
                <a:ea typeface="Arial"/>
                <a:cs typeface="Arial"/>
                <a:sym typeface="Arial"/>
              </a:rPr>
              <a:t>hôpitaux</a:t>
            </a:r>
            <a:r>
              <a:rPr b="0" i="0" lang="fr-FR" sz="1400" u="none" cap="none" strike="noStrike">
                <a:solidFill>
                  <a:srgbClr val="000000"/>
                </a:solidFill>
                <a:latin typeface="Arial"/>
                <a:ea typeface="Arial"/>
                <a:cs typeface="Arial"/>
                <a:sym typeface="Arial"/>
              </a:rPr>
              <a:t> à </a:t>
            </a:r>
            <a:r>
              <a:rPr b="1" i="0" lang="fr-FR" sz="1400" u="none" cap="none" strike="noStrike">
                <a:solidFill>
                  <a:srgbClr val="000000"/>
                </a:solidFill>
                <a:latin typeface="Arial"/>
                <a:ea typeface="Arial"/>
                <a:cs typeface="Arial"/>
                <a:sym typeface="Arial"/>
              </a:rPr>
              <a:t>prioriser les patients infectés</a:t>
            </a:r>
            <a:r>
              <a:rPr b="0" i="0" lang="fr-F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et à </a:t>
            </a:r>
            <a:r>
              <a:rPr b="1" i="0" lang="fr-FR" sz="1400" u="none" cap="none" strike="noStrike">
                <a:solidFill>
                  <a:srgbClr val="000000"/>
                </a:solidFill>
                <a:latin typeface="Arial"/>
                <a:ea typeface="Arial"/>
                <a:cs typeface="Arial"/>
                <a:sym typeface="Arial"/>
              </a:rPr>
              <a:t>réduire les erreurs humaines</a:t>
            </a:r>
            <a:r>
              <a:rPr b="0" i="0" lang="fr-FR" sz="1400" u="none" cap="none" strike="noStrike">
                <a:solidFill>
                  <a:srgbClr val="000000"/>
                </a:solidFill>
                <a:latin typeface="Arial"/>
                <a:ea typeface="Arial"/>
                <a:cs typeface="Arial"/>
                <a:sym typeface="Arial"/>
              </a:rPr>
              <a:t> dues à la fatigue ou au manque d’expertise.</a:t>
            </a:r>
            <a:endParaRPr b="0" i="0" sz="1400" u="none" cap="none" strike="noStrike">
              <a:solidFill>
                <a:srgbClr val="000000"/>
              </a:solidFill>
              <a:latin typeface="Arial"/>
              <a:ea typeface="Arial"/>
              <a:cs typeface="Arial"/>
              <a:sym typeface="Arial"/>
            </a:endParaRPr>
          </a:p>
        </p:txBody>
      </p:sp>
      <p:sp>
        <p:nvSpPr>
          <p:cNvPr id="148" name="Google Shape;148;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FR"/>
              <a:t>‹#›</a:t>
            </a:fld>
            <a:endParaRPr/>
          </a:p>
        </p:txBody>
      </p:sp>
      <p:sp>
        <p:nvSpPr>
          <p:cNvPr id="149" name="Google Shape;149;p5"/>
          <p:cNvSpPr txBox="1"/>
          <p:nvPr/>
        </p:nvSpPr>
        <p:spPr>
          <a:xfrm>
            <a:off x="738825" y="3796400"/>
            <a:ext cx="71178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150" u="sng">
                <a:solidFill>
                  <a:schemeClr val="dk2"/>
                </a:solidFill>
                <a:latin typeface="Courier New"/>
                <a:ea typeface="Courier New"/>
                <a:cs typeface="Courier New"/>
                <a:sym typeface="Courier New"/>
                <a:hlinkClick r:id="rId3">
                  <a:extLst>
                    <a:ext uri="{A12FA001-AC4F-418D-AE19-62706E023703}">
                      <ahyp:hlinkClr val="tx"/>
                    </a:ext>
                  </a:extLst>
                </a:hlinkClick>
              </a:rPr>
              <a:t>https://www.kaggle.com/datasets/tawsifurrahman/covid19-radiography-database</a:t>
            </a:r>
            <a:endParaRPr sz="15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9dc9214267_2_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pic>
        <p:nvPicPr>
          <p:cNvPr id="155" name="Google Shape;155;g39dc9214267_2_52" title="Capture d'écran 2025-10-28 140238.png"/>
          <p:cNvPicPr preferRelativeResize="0"/>
          <p:nvPr/>
        </p:nvPicPr>
        <p:blipFill>
          <a:blip r:embed="rId3">
            <a:alphaModFix/>
          </a:blip>
          <a:stretch>
            <a:fillRect/>
          </a:stretch>
        </p:blipFill>
        <p:spPr>
          <a:xfrm>
            <a:off x="152400" y="1170125"/>
            <a:ext cx="8839200" cy="34144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9d95ce2960_0_1"/>
          <p:cNvSpPr txBox="1"/>
          <p:nvPr>
            <p:ph type="title"/>
          </p:nvPr>
        </p:nvSpPr>
        <p:spPr>
          <a:xfrm>
            <a:off x="51445" y="3077875"/>
            <a:ext cx="5092200" cy="126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4200"/>
              <a:buNone/>
            </a:pPr>
            <a:r>
              <a:rPr lang="fr-FR" sz="3200">
                <a:solidFill>
                  <a:schemeClr val="dk2"/>
                </a:solidFill>
              </a:rPr>
              <a:t>Entraînement</a:t>
            </a:r>
            <a:r>
              <a:rPr lang="fr-FR" sz="3200">
                <a:solidFill>
                  <a:schemeClr val="dk2"/>
                </a:solidFill>
              </a:rPr>
              <a:t> des modèles et évaluation</a:t>
            </a:r>
            <a:endParaRPr b="0" sz="3200">
              <a:solidFill>
                <a:schemeClr val="dk2"/>
              </a:solidFill>
            </a:endParaRPr>
          </a:p>
        </p:txBody>
      </p:sp>
      <p:sp>
        <p:nvSpPr>
          <p:cNvPr id="161" name="Google Shape;161;g39d95ce2960_0_1"/>
          <p:cNvSpPr txBox="1"/>
          <p:nvPr>
            <p:ph idx="2" type="title"/>
          </p:nvPr>
        </p:nvSpPr>
        <p:spPr>
          <a:xfrm>
            <a:off x="2009995" y="2152055"/>
            <a:ext cx="1175100" cy="839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300"/>
              <a:buNone/>
            </a:pPr>
            <a:r>
              <a:rPr lang="fr-FR">
                <a:solidFill>
                  <a:schemeClr val="dk2"/>
                </a:solidFill>
              </a:rPr>
              <a:t>02</a:t>
            </a:r>
            <a:endParaRPr>
              <a:solidFill>
                <a:schemeClr val="dk2"/>
              </a:solidFill>
            </a:endParaRPr>
          </a:p>
        </p:txBody>
      </p:sp>
      <p:pic>
        <p:nvPicPr>
          <p:cNvPr descr="Une image contenant noir, obscurité&#10;&#10;Le contenu généré par l’IA peut être incorrect." id="162" name="Google Shape;162;g39d95ce2960_0_1"/>
          <p:cNvPicPr preferRelativeResize="0"/>
          <p:nvPr/>
        </p:nvPicPr>
        <p:blipFill rotWithShape="1">
          <a:blip r:embed="rId3">
            <a:alphaModFix/>
          </a:blip>
          <a:srcRect b="0" l="0" r="0" t="0"/>
          <a:stretch/>
        </p:blipFill>
        <p:spPr>
          <a:xfrm>
            <a:off x="6438738" y="835918"/>
            <a:ext cx="1735836" cy="1735836"/>
          </a:xfrm>
          <a:prstGeom prst="rect">
            <a:avLst/>
          </a:prstGeom>
          <a:noFill/>
          <a:ln>
            <a:noFill/>
          </a:ln>
        </p:spPr>
      </p:pic>
      <p:sp>
        <p:nvSpPr>
          <p:cNvPr id="163" name="Google Shape;163;g39d95ce2960_0_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9d95ce2960_0_31"/>
          <p:cNvSpPr txBox="1"/>
          <p:nvPr>
            <p:ph type="title"/>
          </p:nvPr>
        </p:nvSpPr>
        <p:spPr>
          <a:xfrm>
            <a:off x="1434475" y="320950"/>
            <a:ext cx="5463900" cy="7698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fr-FR">
                <a:solidFill>
                  <a:srgbClr val="22726D"/>
                </a:solidFill>
              </a:rPr>
              <a:t>les </a:t>
            </a:r>
            <a:r>
              <a:rPr lang="fr-FR">
                <a:solidFill>
                  <a:srgbClr val="22726D"/>
                </a:solidFill>
              </a:rPr>
              <a:t>modèles utilisés</a:t>
            </a:r>
            <a:endParaRPr>
              <a:solidFill>
                <a:srgbClr val="22726D"/>
              </a:solidFill>
            </a:endParaRPr>
          </a:p>
        </p:txBody>
      </p:sp>
      <p:sp>
        <p:nvSpPr>
          <p:cNvPr id="169" name="Google Shape;169;g39d95ce2960_0_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sp>
        <p:nvSpPr>
          <p:cNvPr id="170" name="Google Shape;170;g39d95ce2960_0_31"/>
          <p:cNvSpPr txBox="1"/>
          <p:nvPr/>
        </p:nvSpPr>
        <p:spPr>
          <a:xfrm>
            <a:off x="361025" y="1211375"/>
            <a:ext cx="8062200" cy="374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fr-FR" sz="2500">
                <a:solidFill>
                  <a:srgbClr val="22726D"/>
                </a:solidFill>
                <a:latin typeface="Lato"/>
                <a:ea typeface="Lato"/>
                <a:cs typeface="Lato"/>
                <a:sym typeface="Lato"/>
              </a:rPr>
              <a:t>VGG</a:t>
            </a:r>
            <a:br>
              <a:rPr b="1" lang="fr-FR">
                <a:solidFill>
                  <a:schemeClr val="dk2"/>
                </a:solidFill>
                <a:latin typeface="Lato"/>
                <a:ea typeface="Lato"/>
                <a:cs typeface="Lato"/>
                <a:sym typeface="Lato"/>
              </a:rPr>
            </a:br>
            <a:r>
              <a:rPr b="1" lang="fr-FR">
                <a:solidFill>
                  <a:schemeClr val="dk2"/>
                </a:solidFill>
                <a:latin typeface="Lato"/>
                <a:ea typeface="Lato"/>
                <a:cs typeface="Lato"/>
                <a:sym typeface="Lato"/>
              </a:rPr>
              <a:t>Idée principale :</a:t>
            </a:r>
            <a:endParaRPr b="1">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Empiler plusieurs petites convolutions (3×3) et max-pooling pour apprendre les détails visuels étape par étape.</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1" lang="fr-FR">
                <a:solidFill>
                  <a:schemeClr val="dk2"/>
                </a:solidFill>
                <a:latin typeface="Lato"/>
                <a:ea typeface="Lato"/>
                <a:cs typeface="Lato"/>
                <a:sym typeface="Lato"/>
              </a:rPr>
              <a:t>Structure :</a:t>
            </a:r>
            <a:endParaRPr b="1">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19 couches (16 convolutions + 3 couches entièrement connectées)</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1" lang="fr-FR">
                <a:solidFill>
                  <a:schemeClr val="dk2"/>
                </a:solidFill>
                <a:latin typeface="Lato"/>
                <a:ea typeface="Lato"/>
                <a:cs typeface="Lato"/>
                <a:sym typeface="Lato"/>
              </a:rPr>
              <a:t>Entrée :</a:t>
            </a:r>
            <a:r>
              <a:rPr lang="fr-FR">
                <a:solidFill>
                  <a:schemeClr val="dk2"/>
                </a:solidFill>
                <a:latin typeface="Lato"/>
                <a:ea typeface="Lato"/>
                <a:cs typeface="Lato"/>
                <a:sym typeface="Lato"/>
              </a:rPr>
              <a:t> image 224×224</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Simple mais très profond</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1" lang="fr-FR">
                <a:solidFill>
                  <a:schemeClr val="dk2"/>
                </a:solidFill>
                <a:latin typeface="Lato"/>
                <a:ea typeface="Lato"/>
                <a:cs typeface="Lato"/>
                <a:sym typeface="Lato"/>
              </a:rPr>
              <a:t>Utilisation :</a:t>
            </a:r>
            <a:endParaRPr b="1">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Reconnaissance d’images, transfert d’apprentissage</a:t>
            </a:r>
            <a:endParaRPr>
              <a:solidFill>
                <a:schemeClr val="dk2"/>
              </a:solidFill>
              <a:latin typeface="Lato"/>
              <a:ea typeface="Lato"/>
              <a:cs typeface="Lato"/>
              <a:sym typeface="Lato"/>
            </a:endParaRPr>
          </a:p>
          <a:p>
            <a:pPr indent="0" lvl="0" marL="0" rtl="0" algn="l">
              <a:spcBef>
                <a:spcPts val="0"/>
              </a:spcBef>
              <a:spcAft>
                <a:spcPts val="0"/>
              </a:spcAft>
              <a:buNone/>
            </a:pPr>
            <a:r>
              <a:t/>
            </a:r>
            <a:endParaRPr>
              <a:solidFill>
                <a:schemeClr val="dk2"/>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9dc9214267_3_6"/>
          <p:cNvSpPr txBox="1"/>
          <p:nvPr>
            <p:ph type="title"/>
          </p:nvPr>
        </p:nvSpPr>
        <p:spPr>
          <a:xfrm>
            <a:off x="1434475" y="320950"/>
            <a:ext cx="5463900" cy="7698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fr-FR">
                <a:solidFill>
                  <a:srgbClr val="22726D"/>
                </a:solidFill>
              </a:rPr>
              <a:t>les modèles utilisés</a:t>
            </a:r>
            <a:endParaRPr>
              <a:solidFill>
                <a:srgbClr val="22726D"/>
              </a:solidFill>
            </a:endParaRPr>
          </a:p>
        </p:txBody>
      </p:sp>
      <p:sp>
        <p:nvSpPr>
          <p:cNvPr id="176" name="Google Shape;176;g39dc9214267_3_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sp>
        <p:nvSpPr>
          <p:cNvPr id="177" name="Google Shape;177;g39dc9214267_3_6"/>
          <p:cNvSpPr txBox="1"/>
          <p:nvPr/>
        </p:nvSpPr>
        <p:spPr>
          <a:xfrm>
            <a:off x="219650" y="972150"/>
            <a:ext cx="8536200" cy="399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fr-FR" sz="1900">
                <a:solidFill>
                  <a:schemeClr val="dk2"/>
                </a:solidFill>
                <a:latin typeface="Lato"/>
                <a:ea typeface="Lato"/>
                <a:cs typeface="Lato"/>
                <a:sym typeface="Lato"/>
              </a:rPr>
              <a:t> </a:t>
            </a:r>
            <a:r>
              <a:rPr b="1" lang="fr-FR" sz="2100">
                <a:solidFill>
                  <a:srgbClr val="42958F"/>
                </a:solidFill>
                <a:latin typeface="Lato"/>
                <a:ea typeface="Lato"/>
                <a:cs typeface="Lato"/>
                <a:sym typeface="Lato"/>
              </a:rPr>
              <a:t>ResNet50</a:t>
            </a:r>
            <a:br>
              <a:rPr lang="fr-FR">
                <a:solidFill>
                  <a:schemeClr val="dk2"/>
                </a:solidFill>
                <a:latin typeface="Lato"/>
                <a:ea typeface="Lato"/>
                <a:cs typeface="Lato"/>
                <a:sym typeface="Lato"/>
              </a:rPr>
            </a:br>
            <a:r>
              <a:rPr b="1" lang="fr-FR">
                <a:solidFill>
                  <a:schemeClr val="dk2"/>
                </a:solidFill>
                <a:latin typeface="Lato"/>
                <a:ea typeface="Lato"/>
                <a:cs typeface="Lato"/>
                <a:sym typeface="Lato"/>
              </a:rPr>
              <a:t>Idée principale :</a:t>
            </a:r>
            <a:endParaRPr b="1">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Introduit les skip connections (raccourcis) pour éviter la perte d’information dans les réseaux profonds.</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1" lang="fr-FR">
                <a:solidFill>
                  <a:schemeClr val="dk2"/>
                </a:solidFill>
                <a:latin typeface="Lato"/>
                <a:ea typeface="Lato"/>
                <a:cs typeface="Lato"/>
                <a:sym typeface="Lato"/>
              </a:rPr>
              <a:t> </a:t>
            </a:r>
            <a:r>
              <a:rPr b="1" lang="fr-FR" sz="1500">
                <a:solidFill>
                  <a:schemeClr val="dk2"/>
                </a:solidFill>
                <a:latin typeface="Lato"/>
                <a:ea typeface="Lato"/>
                <a:cs typeface="Lato"/>
                <a:sym typeface="Lato"/>
              </a:rPr>
              <a:t>Structure :</a:t>
            </a:r>
            <a:endParaRPr b="1" sz="1500">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50 couches</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Chaque bloc apprend une "différence" (résidu) au lieu de tout réapprendre</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Permet d’aller beaucoup plus profond</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 </a:t>
            </a:r>
            <a:r>
              <a:rPr b="1" lang="fr-FR">
                <a:solidFill>
                  <a:schemeClr val="dk2"/>
                </a:solidFill>
                <a:latin typeface="Lato"/>
                <a:ea typeface="Lato"/>
                <a:cs typeface="Lato"/>
                <a:sym typeface="Lato"/>
              </a:rPr>
              <a:t>Utilisation :</a:t>
            </a:r>
            <a:endParaRPr b="1">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Reconnaissance d’images, détection d’objets, vision par ordinateur avancée</a:t>
            </a:r>
            <a:endParaRPr>
              <a:solidFill>
                <a:schemeClr val="dk2"/>
              </a:solidFill>
              <a:latin typeface="Lato"/>
              <a:ea typeface="Lato"/>
              <a:cs typeface="Lato"/>
              <a:sym typeface="Lato"/>
            </a:endParaRPr>
          </a:p>
          <a:p>
            <a:pPr indent="0" lvl="0" marL="0" rtl="0" algn="l">
              <a:spcBef>
                <a:spcPts val="0"/>
              </a:spcBef>
              <a:spcAft>
                <a:spcPts val="0"/>
              </a:spcAft>
              <a:buNone/>
            </a:pPr>
            <a:r>
              <a:t/>
            </a:r>
            <a:endParaRPr>
              <a:solidFill>
                <a:schemeClr val="dk2"/>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9dc9214267_3_1"/>
          <p:cNvSpPr txBox="1"/>
          <p:nvPr>
            <p:ph type="title"/>
          </p:nvPr>
        </p:nvSpPr>
        <p:spPr>
          <a:xfrm>
            <a:off x="1434475" y="320950"/>
            <a:ext cx="5463900" cy="7698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fr-FR">
                <a:solidFill>
                  <a:srgbClr val="22726D"/>
                </a:solidFill>
              </a:rPr>
              <a:t>les modèles utilisés</a:t>
            </a:r>
            <a:endParaRPr>
              <a:solidFill>
                <a:srgbClr val="22726D"/>
              </a:solidFill>
            </a:endParaRPr>
          </a:p>
        </p:txBody>
      </p:sp>
      <p:sp>
        <p:nvSpPr>
          <p:cNvPr id="183" name="Google Shape;183;g39dc9214267_3_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sp>
        <p:nvSpPr>
          <p:cNvPr id="184" name="Google Shape;184;g39dc9214267_3_1"/>
          <p:cNvSpPr txBox="1"/>
          <p:nvPr/>
        </p:nvSpPr>
        <p:spPr>
          <a:xfrm>
            <a:off x="143550" y="993900"/>
            <a:ext cx="8590500" cy="395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Lato"/>
              <a:ea typeface="Lato"/>
              <a:cs typeface="Lato"/>
              <a:sym typeface="Lato"/>
            </a:endParaRPr>
          </a:p>
        </p:txBody>
      </p:sp>
      <p:sp>
        <p:nvSpPr>
          <p:cNvPr id="185" name="Google Shape;185;g39dc9214267_3_1"/>
          <p:cNvSpPr txBox="1"/>
          <p:nvPr/>
        </p:nvSpPr>
        <p:spPr>
          <a:xfrm>
            <a:off x="295775" y="1015650"/>
            <a:ext cx="8438400" cy="38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fr-FR" sz="2100">
                <a:solidFill>
                  <a:srgbClr val="22726D"/>
                </a:solidFill>
                <a:latin typeface="Lato"/>
                <a:ea typeface="Lato"/>
                <a:cs typeface="Lato"/>
                <a:sym typeface="Lato"/>
              </a:rPr>
              <a:t>EfficientNetV2B0</a:t>
            </a:r>
            <a:endParaRPr b="1" sz="2100">
              <a:solidFill>
                <a:srgbClr val="22726D"/>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 </a:t>
            </a:r>
            <a:r>
              <a:rPr b="1" lang="fr-FR">
                <a:solidFill>
                  <a:schemeClr val="dk2"/>
                </a:solidFill>
                <a:latin typeface="Lato"/>
                <a:ea typeface="Lato"/>
                <a:cs typeface="Lato"/>
                <a:sym typeface="Lato"/>
              </a:rPr>
              <a:t>Idée principale :</a:t>
            </a:r>
            <a:endParaRPr b="1">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Faire un réseau rapide, léger et précis grâce à une optimisation intelligente de la taille, de la profondeur et de la largeur du réseau.</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 </a:t>
            </a:r>
            <a:r>
              <a:rPr b="1" lang="fr-FR">
                <a:solidFill>
                  <a:schemeClr val="dk2"/>
                </a:solidFill>
                <a:latin typeface="Lato"/>
                <a:ea typeface="Lato"/>
                <a:cs typeface="Lato"/>
                <a:sym typeface="Lato"/>
              </a:rPr>
              <a:t>Structure :</a:t>
            </a:r>
            <a:endParaRPr b="1">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Convolutions optimisées (MBConv, Fused-MBConv)</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Moins de paramètres, mais plus d’efficacité</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Entraînement plus rapide                        </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1" lang="fr-FR">
                <a:solidFill>
                  <a:schemeClr val="dk2"/>
                </a:solidFill>
                <a:latin typeface="Lato"/>
                <a:ea typeface="Lato"/>
                <a:cs typeface="Lato"/>
                <a:sym typeface="Lato"/>
              </a:rPr>
              <a:t> Utilisation </a:t>
            </a:r>
            <a:r>
              <a:rPr lang="fr-FR">
                <a:solidFill>
                  <a:schemeClr val="dk2"/>
                </a:solidFill>
                <a:latin typeface="Lato"/>
                <a:ea typeface="Lato"/>
                <a:cs typeface="Lato"/>
                <a:sym typeface="Lato"/>
              </a:rPr>
              <a:t>:</a:t>
            </a:r>
            <a:endParaRPr>
              <a:solidFill>
                <a:schemeClr val="dk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fr-FR">
                <a:solidFill>
                  <a:schemeClr val="dk2"/>
                </a:solidFill>
                <a:latin typeface="Lato"/>
                <a:ea typeface="Lato"/>
                <a:cs typeface="Lato"/>
                <a:sym typeface="Lato"/>
              </a:rPr>
              <a:t>Classification d’images, applications mobiles, vision embarquée</a:t>
            </a:r>
            <a:endParaRPr>
              <a:solidFill>
                <a:schemeClr val="dk2"/>
              </a:solidFill>
              <a:latin typeface="Lato"/>
              <a:ea typeface="Lato"/>
              <a:cs typeface="Lato"/>
              <a:sym typeface="Lato"/>
            </a:endParaRPr>
          </a:p>
          <a:p>
            <a:pPr indent="0" lvl="0" marL="0" rtl="0" algn="l">
              <a:spcBef>
                <a:spcPts val="0"/>
              </a:spcBef>
              <a:spcAft>
                <a:spcPts val="0"/>
              </a:spcAft>
              <a:buNone/>
            </a:pPr>
            <a:r>
              <a:t/>
            </a:r>
            <a:endParaRPr>
              <a:solidFill>
                <a:schemeClr val="dk2"/>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g39dc9214267_0_2"/>
          <p:cNvGraphicFramePr/>
          <p:nvPr/>
        </p:nvGraphicFramePr>
        <p:xfrm>
          <a:off x="1146450" y="1648025"/>
          <a:ext cx="3000000" cy="3000000"/>
        </p:xfrm>
        <a:graphic>
          <a:graphicData uri="http://schemas.openxmlformats.org/drawingml/2006/table">
            <a:tbl>
              <a:tblPr>
                <a:noFill/>
                <a:tableStyleId>{8AD14D85-F841-4C2D-BC02-5365E79DA365}</a:tableStyleId>
              </a:tblPr>
              <a:tblGrid>
                <a:gridCol w="1638300"/>
                <a:gridCol w="5038725"/>
              </a:tblGrid>
              <a:tr h="400050">
                <a:tc>
                  <a:txBody>
                    <a:bodyPr/>
                    <a:lstStyle/>
                    <a:p>
                      <a:pPr indent="0" lvl="0" marL="0" rtl="0" algn="l">
                        <a:lnSpc>
                          <a:spcPct val="115000"/>
                        </a:lnSpc>
                        <a:spcBef>
                          <a:spcPts val="0"/>
                        </a:spcBef>
                        <a:spcAft>
                          <a:spcPts val="0"/>
                        </a:spcAft>
                        <a:buNone/>
                      </a:pPr>
                      <a:r>
                        <a:rPr b="1" lang="fr-FR" sz="1600">
                          <a:solidFill>
                            <a:srgbClr val="22726D"/>
                          </a:solidFill>
                        </a:rPr>
                        <a:t>Composant</a:t>
                      </a:r>
                      <a:endParaRPr b="1" sz="1600">
                        <a:solidFill>
                          <a:srgbClr val="22726D"/>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FR" sz="1600">
                          <a:solidFill>
                            <a:srgbClr val="22726D"/>
                          </a:solidFill>
                        </a:rPr>
                        <a:t>Description</a:t>
                      </a:r>
                      <a:endParaRPr b="1" sz="1600">
                        <a:solidFill>
                          <a:srgbClr val="22726D"/>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90525">
                <a:tc>
                  <a:txBody>
                    <a:bodyPr/>
                    <a:lstStyle/>
                    <a:p>
                      <a:pPr indent="0" lvl="0" marL="0" rtl="0" algn="l">
                        <a:lnSpc>
                          <a:spcPct val="115000"/>
                        </a:lnSpc>
                        <a:spcBef>
                          <a:spcPts val="0"/>
                        </a:spcBef>
                        <a:spcAft>
                          <a:spcPts val="0"/>
                        </a:spcAft>
                        <a:buNone/>
                      </a:pPr>
                      <a:r>
                        <a:rPr b="1" lang="fr-FR" sz="1200"/>
                        <a:t>Base</a:t>
                      </a:r>
                      <a:endParaRPr b="1"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VGG19 pré-entraîné sur ImageNet (include_top=False)</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571500">
                <a:tc>
                  <a:txBody>
                    <a:bodyPr/>
                    <a:lstStyle/>
                    <a:p>
                      <a:pPr indent="0" lvl="0" marL="0" rtl="0" algn="l">
                        <a:lnSpc>
                          <a:spcPct val="115000"/>
                        </a:lnSpc>
                        <a:spcBef>
                          <a:spcPts val="0"/>
                        </a:spcBef>
                        <a:spcAft>
                          <a:spcPts val="0"/>
                        </a:spcAft>
                        <a:buNone/>
                      </a:pPr>
                      <a:r>
                        <a:rPr b="1" lang="fr-FR" sz="1200"/>
                        <a:t>Couches gelées</a:t>
                      </a:r>
                      <a:endParaRPr b="1"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sz="1200"/>
                        <a:t>Toutes sauf les 2 dernières</a:t>
                      </a:r>
                      <a:endParaRPr sz="1200"/>
                    </a:p>
                    <a:p>
                      <a:pPr indent="0" lvl="0" marL="0" rtl="0" algn="l">
                        <a:lnSpc>
                          <a:spcPct val="115000"/>
                        </a:lnSpc>
                        <a:spcBef>
                          <a:spcPts val="0"/>
                        </a:spcBef>
                        <a:spcAft>
                          <a:spcPts val="0"/>
                        </a:spcAft>
                        <a:buNone/>
                      </a:pPr>
                      <a:r>
                        <a:rPr b="1" lang="fr-FR" sz="1300"/>
                        <a:t>(for layer in base_model.layers[:-2]:</a:t>
                      </a:r>
                      <a:endParaRPr b="1" sz="1300"/>
                    </a:p>
                    <a:p>
                      <a:pPr indent="0" lvl="0" marL="0" rtl="0" algn="l">
                        <a:lnSpc>
                          <a:spcPct val="115000"/>
                        </a:lnSpc>
                        <a:spcBef>
                          <a:spcPts val="0"/>
                        </a:spcBef>
                        <a:spcAft>
                          <a:spcPts val="0"/>
                        </a:spcAft>
                        <a:buNone/>
                      </a:pPr>
                      <a:r>
                        <a:rPr b="1" lang="fr-FR" sz="1300"/>
                        <a:t>layer.trainable=False)</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714375">
                <a:tc>
                  <a:txBody>
                    <a:bodyPr/>
                    <a:lstStyle/>
                    <a:p>
                      <a:pPr indent="0" lvl="0" marL="0" rtl="0" algn="l">
                        <a:lnSpc>
                          <a:spcPct val="115000"/>
                        </a:lnSpc>
                        <a:spcBef>
                          <a:spcPts val="0"/>
                        </a:spcBef>
                        <a:spcAft>
                          <a:spcPts val="0"/>
                        </a:spcAft>
                        <a:buNone/>
                      </a:pPr>
                      <a:r>
                        <a:rPr b="1" lang="fr-FR" sz="1200"/>
                        <a:t>Couches personnalisées</a:t>
                      </a:r>
                      <a:endParaRPr b="1"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sz="1200"/>
                        <a:t>1.</a:t>
                      </a:r>
                      <a:r>
                        <a:rPr b="1" lang="fr-FR" sz="1200"/>
                        <a:t>GlobalAveragePooling2D()</a:t>
                      </a:r>
                      <a:endParaRPr b="1" sz="1200"/>
                    </a:p>
                    <a:p>
                      <a:pPr indent="0" lvl="0" marL="0" rtl="0" algn="l">
                        <a:lnSpc>
                          <a:spcPct val="115000"/>
                        </a:lnSpc>
                        <a:spcBef>
                          <a:spcPts val="0"/>
                        </a:spcBef>
                        <a:spcAft>
                          <a:spcPts val="0"/>
                        </a:spcAft>
                        <a:buNone/>
                      </a:pPr>
                      <a:r>
                        <a:rPr b="1" lang="fr-FR" sz="1200"/>
                        <a:t>2. Dense(256, activation='relu’)</a:t>
                      </a:r>
                      <a:endParaRPr b="1" sz="1200"/>
                    </a:p>
                    <a:p>
                      <a:pPr indent="0" lvl="0" marL="0" rtl="0" algn="l">
                        <a:lnSpc>
                          <a:spcPct val="115000"/>
                        </a:lnSpc>
                        <a:spcBef>
                          <a:spcPts val="0"/>
                        </a:spcBef>
                        <a:spcAft>
                          <a:spcPts val="0"/>
                        </a:spcAft>
                        <a:buNone/>
                      </a:pPr>
                      <a:r>
                        <a:rPr b="1" lang="fr-FR" sz="1200"/>
                        <a:t> 3. Dropout(0.5)</a:t>
                      </a:r>
                      <a:endParaRPr b="1" sz="1200"/>
                    </a:p>
                    <a:p>
                      <a:pPr indent="0" lvl="0" marL="0" rtl="0" algn="l">
                        <a:lnSpc>
                          <a:spcPct val="115000"/>
                        </a:lnSpc>
                        <a:spcBef>
                          <a:spcPts val="0"/>
                        </a:spcBef>
                        <a:spcAft>
                          <a:spcPts val="0"/>
                        </a:spcAft>
                        <a:buNone/>
                      </a:pPr>
                      <a:r>
                        <a:rPr b="1" lang="fr-FR" sz="1200"/>
                        <a:t>4. Dense(256, activation='sigmoid')</a:t>
                      </a:r>
                      <a:endParaRPr b="1"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pic>
        <p:nvPicPr>
          <p:cNvPr id="191" name="Google Shape;191;g39dc9214267_0_2"/>
          <p:cNvPicPr preferRelativeResize="0"/>
          <p:nvPr/>
        </p:nvPicPr>
        <p:blipFill>
          <a:blip r:embed="rId3">
            <a:alphaModFix/>
          </a:blip>
          <a:stretch>
            <a:fillRect/>
          </a:stretch>
        </p:blipFill>
        <p:spPr>
          <a:xfrm>
            <a:off x="672950" y="317825"/>
            <a:ext cx="7624017" cy="977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9d95ce2960_0_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graphicFrame>
        <p:nvGraphicFramePr>
          <p:cNvPr id="197" name="Google Shape;197;g39d95ce2960_0_17"/>
          <p:cNvGraphicFramePr/>
          <p:nvPr/>
        </p:nvGraphicFramePr>
        <p:xfrm>
          <a:off x="3766729" y="129463"/>
          <a:ext cx="3000000" cy="3000000"/>
        </p:xfrm>
        <a:graphic>
          <a:graphicData uri="http://schemas.openxmlformats.org/drawingml/2006/table">
            <a:tbl>
              <a:tblPr>
                <a:noFill/>
                <a:tableStyleId>{8AD14D85-F841-4C2D-BC02-5365E79DA365}</a:tableStyleId>
              </a:tblPr>
              <a:tblGrid>
                <a:gridCol w="2158925"/>
                <a:gridCol w="3094675"/>
              </a:tblGrid>
              <a:tr h="520450">
                <a:tc>
                  <a:txBody>
                    <a:bodyPr/>
                    <a:lstStyle/>
                    <a:p>
                      <a:pPr indent="0" lvl="0" marL="0" rtl="0" algn="l">
                        <a:lnSpc>
                          <a:spcPct val="115000"/>
                        </a:lnSpc>
                        <a:spcBef>
                          <a:spcPts val="0"/>
                        </a:spcBef>
                        <a:spcAft>
                          <a:spcPts val="0"/>
                        </a:spcAft>
                        <a:buNone/>
                      </a:pPr>
                      <a:r>
                        <a:rPr b="1" lang="fr-FR" sz="1600">
                          <a:solidFill>
                            <a:srgbClr val="22726D"/>
                          </a:solidFill>
                        </a:rPr>
                        <a:t>Hyperparamètre</a:t>
                      </a:r>
                      <a:endParaRPr b="1" sz="1600">
                        <a:solidFill>
                          <a:srgbClr val="22726D"/>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fr-FR" sz="1600">
                          <a:solidFill>
                            <a:srgbClr val="22726D"/>
                          </a:solidFill>
                        </a:rPr>
                        <a:t>Valeur</a:t>
                      </a:r>
                      <a:endParaRPr b="1" sz="1600">
                        <a:solidFill>
                          <a:srgbClr val="22726D"/>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94525">
                <a:tc>
                  <a:txBody>
                    <a:bodyPr/>
                    <a:lstStyle/>
                    <a:p>
                      <a:pPr indent="0" lvl="0" marL="0" rtl="0" algn="l">
                        <a:lnSpc>
                          <a:spcPct val="115000"/>
                        </a:lnSpc>
                        <a:spcBef>
                          <a:spcPts val="0"/>
                        </a:spcBef>
                        <a:spcAft>
                          <a:spcPts val="0"/>
                        </a:spcAft>
                        <a:buNone/>
                      </a:pPr>
                      <a:r>
                        <a:rPr b="1" lang="fr-FR"/>
                        <a:t>Optimiseur</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Adam</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94525">
                <a:tc>
                  <a:txBody>
                    <a:bodyPr/>
                    <a:lstStyle/>
                    <a:p>
                      <a:pPr indent="0" lvl="0" marL="0" rtl="0" algn="l">
                        <a:lnSpc>
                          <a:spcPct val="115000"/>
                        </a:lnSpc>
                        <a:spcBef>
                          <a:spcPts val="0"/>
                        </a:spcBef>
                        <a:spcAft>
                          <a:spcPts val="0"/>
                        </a:spcAft>
                        <a:buNone/>
                      </a:pPr>
                      <a:r>
                        <a:rPr b="1" lang="fr-FR"/>
                        <a:t>Epochs max</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50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848450">
                <a:tc>
                  <a:txBody>
                    <a:bodyPr/>
                    <a:lstStyle/>
                    <a:p>
                      <a:pPr indent="0" lvl="0" marL="0" rtl="0" algn="l">
                        <a:lnSpc>
                          <a:spcPct val="115000"/>
                        </a:lnSpc>
                        <a:spcBef>
                          <a:spcPts val="0"/>
                        </a:spcBef>
                        <a:spcAft>
                          <a:spcPts val="0"/>
                        </a:spcAft>
                        <a:buNone/>
                      </a:pPr>
                      <a:r>
                        <a:rPr b="1" lang="fr-FR"/>
                        <a:t>Early Stopping</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patience=4,monitor='val_loss'</a:t>
                      </a:r>
                      <a:endParaRPr/>
                    </a:p>
                    <a:p>
                      <a:pPr indent="0" lvl="0" marL="0" rtl="0" algn="l">
                        <a:lnSpc>
                          <a:spcPct val="115000"/>
                        </a:lnSpc>
                        <a:spcBef>
                          <a:spcPts val="0"/>
                        </a:spcBef>
                        <a:spcAft>
                          <a:spcPts val="0"/>
                        </a:spcAft>
                        <a:buNone/>
                      </a:pPr>
                      <a:r>
                        <a:rPr lang="fr-FR"/>
                        <a:t>restore_best_weights=True</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843725">
                <a:tc>
                  <a:txBody>
                    <a:bodyPr/>
                    <a:lstStyle/>
                    <a:p>
                      <a:pPr indent="0" lvl="0" marL="0" rtl="0" algn="l">
                        <a:lnSpc>
                          <a:spcPct val="115000"/>
                        </a:lnSpc>
                        <a:spcBef>
                          <a:spcPts val="0"/>
                        </a:spcBef>
                        <a:spcAft>
                          <a:spcPts val="0"/>
                        </a:spcAft>
                        <a:buNone/>
                      </a:pPr>
                      <a:r>
                        <a:rPr b="1" lang="fr-FR">
                          <a:solidFill>
                            <a:srgbClr val="0070C0"/>
                          </a:solidFill>
                        </a:rPr>
                        <a:t>Class weights</a:t>
                      </a:r>
                      <a:endParaRPr b="1">
                        <a:solidFill>
                          <a:srgbClr val="0070C0"/>
                        </a:solidFill>
                      </a:endParaRPr>
                    </a:p>
                    <a:p>
                      <a:pPr indent="0" lvl="0" marL="0" rtl="0" algn="l">
                        <a:lnSpc>
                          <a:spcPct val="115000"/>
                        </a:lnSpc>
                        <a:spcBef>
                          <a:spcPts val="0"/>
                        </a:spcBef>
                        <a:spcAft>
                          <a:spcPts val="0"/>
                        </a:spcAft>
                        <a:buNone/>
                      </a:pPr>
                      <a:r>
                        <a:rPr b="1" lang="fr-FR">
                          <a:solidFill>
                            <a:srgbClr val="0070C0"/>
                          </a:solidFill>
                        </a:rPr>
                        <a:t>('balanced')</a:t>
                      </a:r>
                      <a:endParaRPr b="1">
                        <a:solidFill>
                          <a:srgbClr val="0070C0"/>
                        </a:solidFill>
                      </a:endParaRPr>
                    </a:p>
                    <a:p>
                      <a:pPr indent="0" lvl="0" marL="0" rtl="0" algn="l">
                        <a:lnSpc>
                          <a:spcPct val="115000"/>
                        </a:lnSpc>
                        <a:spcBef>
                          <a:spcPts val="0"/>
                        </a:spcBef>
                        <a:spcAft>
                          <a:spcPts val="0"/>
                        </a:spcAft>
                        <a:buNone/>
                      </a:pPr>
                      <a:r>
                        <a:t/>
                      </a:r>
                      <a:endParaRPr b="1">
                        <a:solidFill>
                          <a:srgbClr val="0070C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Équilibrage automatique selon les labels</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670125">
                <a:tc>
                  <a:txBody>
                    <a:bodyPr/>
                    <a:lstStyle/>
                    <a:p>
                      <a:pPr indent="0" lvl="0" marL="0" rtl="0" algn="l">
                        <a:lnSpc>
                          <a:spcPct val="115000"/>
                        </a:lnSpc>
                        <a:spcBef>
                          <a:spcPts val="1200"/>
                        </a:spcBef>
                        <a:spcAft>
                          <a:spcPts val="1200"/>
                        </a:spcAft>
                        <a:buNone/>
                      </a:pPr>
                      <a:r>
                        <a:rPr b="1" lang="fr-FR">
                          <a:solidFill>
                            <a:srgbClr val="0070C0"/>
                          </a:solidFill>
                        </a:rPr>
                        <a:t>ModelCheckpoint</a:t>
                      </a:r>
                      <a:endParaRPr b="1">
                        <a:solidFill>
                          <a:srgbClr val="0070C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sz="1300"/>
                        <a:t>monitor='val_loss'</a:t>
                      </a:r>
                      <a:endParaRPr sz="1300"/>
                    </a:p>
                    <a:p>
                      <a:pPr indent="0" lvl="0" marL="0" rtl="0" algn="l">
                        <a:lnSpc>
                          <a:spcPct val="115000"/>
                        </a:lnSpc>
                        <a:spcBef>
                          <a:spcPts val="0"/>
                        </a:spcBef>
                        <a:spcAft>
                          <a:spcPts val="0"/>
                        </a:spcAft>
                        <a:buNone/>
                      </a:pPr>
                      <a:r>
                        <a:rPr lang="fr-FR" sz="1300"/>
                        <a:t>mode=’min’</a:t>
                      </a:r>
                      <a:endParaRPr sz="1300"/>
                    </a:p>
                    <a:p>
                      <a:pPr indent="0" lvl="0" marL="0" rtl="0" algn="l">
                        <a:lnSpc>
                          <a:spcPct val="115000"/>
                        </a:lnSpc>
                        <a:spcBef>
                          <a:spcPts val="0"/>
                        </a:spcBef>
                        <a:spcAft>
                          <a:spcPts val="0"/>
                        </a:spcAft>
                        <a:buNone/>
                      </a:pPr>
                      <a:r>
                        <a:rPr lang="fr-FR" sz="1300"/>
                        <a:t>filepath=’best_modeleVGG19.keras’</a:t>
                      </a:r>
                      <a:endParaRPr sz="1300"/>
                    </a:p>
                    <a:p>
                      <a:pPr indent="0" lvl="0" marL="0" rtl="0" algn="l">
                        <a:lnSpc>
                          <a:spcPct val="115000"/>
                        </a:lnSpc>
                        <a:spcBef>
                          <a:spcPts val="0"/>
                        </a:spcBef>
                        <a:spcAft>
                          <a:spcPts val="0"/>
                        </a:spcAft>
                        <a:buNone/>
                      </a:pPr>
                      <a:r>
                        <a:t/>
                      </a:r>
                      <a:endParaRPr sz="1050">
                        <a:solidFill>
                          <a:srgbClr val="D4D4D4"/>
                        </a:solidFill>
                        <a:highlight>
                          <a:srgbClr val="383838"/>
                        </a:highlight>
                        <a:latin typeface="Courier New"/>
                        <a:ea typeface="Courier New"/>
                        <a:cs typeface="Courier New"/>
                        <a:sym typeface="Courier New"/>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621500">
                <a:tc>
                  <a:txBody>
                    <a:bodyPr/>
                    <a:lstStyle/>
                    <a:p>
                      <a:pPr indent="0" lvl="0" marL="0" rtl="0" algn="l">
                        <a:lnSpc>
                          <a:spcPct val="115000"/>
                        </a:lnSpc>
                        <a:spcBef>
                          <a:spcPts val="0"/>
                        </a:spcBef>
                        <a:spcAft>
                          <a:spcPts val="0"/>
                        </a:spcAft>
                        <a:buNone/>
                      </a:pPr>
                      <a:r>
                        <a:rPr b="1" lang="fr-FR"/>
                        <a:t>Couche Dense</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256 unités, activation ReLU</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198" name="Google Shape;198;g39d95ce2960_0_17"/>
          <p:cNvSpPr txBox="1"/>
          <p:nvPr/>
        </p:nvSpPr>
        <p:spPr>
          <a:xfrm>
            <a:off x="618300" y="2359375"/>
            <a:ext cx="32295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2300">
                <a:solidFill>
                  <a:srgbClr val="22726D"/>
                </a:solidFill>
                <a:latin typeface="Montserrat"/>
                <a:ea typeface="Montserrat"/>
                <a:cs typeface="Montserrat"/>
                <a:sym typeface="Montserrat"/>
              </a:rPr>
              <a:t>Hyperparamètres </a:t>
            </a:r>
            <a:endParaRPr b="1" sz="2300">
              <a:solidFill>
                <a:srgbClr val="22726D"/>
              </a:solidFill>
              <a:latin typeface="Montserrat"/>
              <a:ea typeface="Montserrat"/>
              <a:cs typeface="Montserrat"/>
              <a:sym typeface="Montserrat"/>
            </a:endParaRPr>
          </a:p>
          <a:p>
            <a:pPr indent="0" lvl="0" marL="0" rtl="0" algn="l">
              <a:spcBef>
                <a:spcPts val="0"/>
              </a:spcBef>
              <a:spcAft>
                <a:spcPts val="0"/>
              </a:spcAft>
              <a:buNone/>
            </a:pPr>
            <a:r>
              <a:rPr b="1" lang="fr-FR" sz="2300">
                <a:solidFill>
                  <a:srgbClr val="22726D"/>
                </a:solidFill>
                <a:latin typeface="Montserrat"/>
                <a:ea typeface="Montserrat"/>
                <a:cs typeface="Montserrat"/>
                <a:sym typeface="Montserrat"/>
              </a:rPr>
              <a:t>choisis</a:t>
            </a:r>
            <a:endParaRPr b="1" sz="2300">
              <a:solidFill>
                <a:srgbClr val="22726D"/>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9d95ce2960_0_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sp>
        <p:nvSpPr>
          <p:cNvPr id="204" name="Google Shape;204;g39d95ce2960_0_43"/>
          <p:cNvSpPr txBox="1"/>
          <p:nvPr/>
        </p:nvSpPr>
        <p:spPr>
          <a:xfrm>
            <a:off x="912825" y="44800"/>
            <a:ext cx="6055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3000">
                <a:solidFill>
                  <a:srgbClr val="22726D"/>
                </a:solidFill>
                <a:latin typeface="Montserrat"/>
                <a:ea typeface="Montserrat"/>
                <a:cs typeface="Montserrat"/>
                <a:sym typeface="Montserrat"/>
              </a:rPr>
              <a:t>Evaluation du </a:t>
            </a:r>
            <a:r>
              <a:rPr b="1" lang="fr-FR" sz="3000">
                <a:solidFill>
                  <a:srgbClr val="22726D"/>
                </a:solidFill>
                <a:latin typeface="Montserrat"/>
                <a:ea typeface="Montserrat"/>
                <a:cs typeface="Montserrat"/>
                <a:sym typeface="Montserrat"/>
              </a:rPr>
              <a:t>modèle</a:t>
            </a:r>
            <a:r>
              <a:rPr b="1" lang="fr-FR" sz="3000">
                <a:solidFill>
                  <a:srgbClr val="22726D"/>
                </a:solidFill>
                <a:latin typeface="Montserrat"/>
                <a:ea typeface="Montserrat"/>
                <a:cs typeface="Montserrat"/>
                <a:sym typeface="Montserrat"/>
              </a:rPr>
              <a:t> VGG19</a:t>
            </a:r>
            <a:endParaRPr b="1" sz="3000">
              <a:solidFill>
                <a:srgbClr val="22726D"/>
              </a:solidFill>
              <a:latin typeface="Montserrat"/>
              <a:ea typeface="Montserrat"/>
              <a:cs typeface="Montserrat"/>
              <a:sym typeface="Montserrat"/>
            </a:endParaRPr>
          </a:p>
        </p:txBody>
      </p:sp>
      <p:pic>
        <p:nvPicPr>
          <p:cNvPr id="205" name="Google Shape;205;g39d95ce2960_0_43"/>
          <p:cNvPicPr preferRelativeResize="0"/>
          <p:nvPr/>
        </p:nvPicPr>
        <p:blipFill rotWithShape="1">
          <a:blip r:embed="rId3">
            <a:alphaModFix/>
          </a:blip>
          <a:srcRect b="0" l="0" r="0" t="1565"/>
          <a:stretch/>
        </p:blipFill>
        <p:spPr>
          <a:xfrm>
            <a:off x="310900" y="691300"/>
            <a:ext cx="8709301" cy="3232800"/>
          </a:xfrm>
          <a:prstGeom prst="rect">
            <a:avLst/>
          </a:prstGeom>
          <a:noFill/>
          <a:ln>
            <a:noFill/>
          </a:ln>
        </p:spPr>
      </p:pic>
      <p:pic>
        <p:nvPicPr>
          <p:cNvPr id="206" name="Google Shape;206;g39d95ce2960_0_43"/>
          <p:cNvPicPr preferRelativeResize="0"/>
          <p:nvPr/>
        </p:nvPicPr>
        <p:blipFill>
          <a:blip r:embed="rId4">
            <a:alphaModFix/>
          </a:blip>
          <a:stretch>
            <a:fillRect/>
          </a:stretch>
        </p:blipFill>
        <p:spPr>
          <a:xfrm>
            <a:off x="417813" y="4257072"/>
            <a:ext cx="8071274" cy="605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9d95ce2960_0_48"/>
          <p:cNvSpPr txBox="1"/>
          <p:nvPr>
            <p:ph type="title"/>
          </p:nvPr>
        </p:nvSpPr>
        <p:spPr>
          <a:xfrm>
            <a:off x="1617800" y="269525"/>
            <a:ext cx="5503500" cy="7029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fr-FR" sz="2300">
                <a:solidFill>
                  <a:srgbClr val="22726D"/>
                </a:solidFill>
              </a:rPr>
              <a:t>Matrice de confusion -VGG19 </a:t>
            </a:r>
            <a:endParaRPr sz="2300">
              <a:solidFill>
                <a:srgbClr val="22726D"/>
              </a:solidFill>
            </a:endParaRPr>
          </a:p>
        </p:txBody>
      </p:sp>
      <p:sp>
        <p:nvSpPr>
          <p:cNvPr id="212" name="Google Shape;212;g39d95ce2960_0_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pic>
        <p:nvPicPr>
          <p:cNvPr id="213" name="Google Shape;213;g39d95ce2960_0_48"/>
          <p:cNvPicPr preferRelativeResize="0"/>
          <p:nvPr/>
        </p:nvPicPr>
        <p:blipFill rotWithShape="1">
          <a:blip r:embed="rId3">
            <a:alphaModFix/>
          </a:blip>
          <a:srcRect b="2359" l="4190" r="-2547" t="-2360"/>
          <a:stretch/>
        </p:blipFill>
        <p:spPr>
          <a:xfrm>
            <a:off x="1913000" y="972425"/>
            <a:ext cx="4579049" cy="3866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9dc9214267_0_43"/>
          <p:cNvSpPr txBox="1"/>
          <p:nvPr>
            <p:ph type="title"/>
          </p:nvPr>
        </p:nvSpPr>
        <p:spPr>
          <a:xfrm>
            <a:off x="386650" y="96250"/>
            <a:ext cx="5503500" cy="7029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fr-FR" sz="2700">
                <a:solidFill>
                  <a:srgbClr val="22726D"/>
                </a:solidFill>
              </a:rPr>
              <a:t>Les métriques </a:t>
            </a:r>
            <a:endParaRPr sz="2700">
              <a:solidFill>
                <a:srgbClr val="22726D"/>
              </a:solidFill>
            </a:endParaRPr>
          </a:p>
        </p:txBody>
      </p:sp>
      <p:sp>
        <p:nvSpPr>
          <p:cNvPr id="219" name="Google Shape;219;g39dc9214267_0_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pic>
        <p:nvPicPr>
          <p:cNvPr id="220" name="Google Shape;220;g39dc9214267_0_43"/>
          <p:cNvPicPr preferRelativeResize="0"/>
          <p:nvPr/>
        </p:nvPicPr>
        <p:blipFill>
          <a:blip r:embed="rId3">
            <a:alphaModFix/>
          </a:blip>
          <a:stretch>
            <a:fillRect/>
          </a:stretch>
        </p:blipFill>
        <p:spPr>
          <a:xfrm>
            <a:off x="1594800" y="1052050"/>
            <a:ext cx="5954412" cy="3652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9dc9214267_0_8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sp>
        <p:nvSpPr>
          <p:cNvPr id="226" name="Google Shape;226;g39dc9214267_0_82"/>
          <p:cNvSpPr txBox="1"/>
          <p:nvPr/>
        </p:nvSpPr>
        <p:spPr>
          <a:xfrm>
            <a:off x="839875" y="336625"/>
            <a:ext cx="7651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3000">
                <a:solidFill>
                  <a:srgbClr val="22726D"/>
                </a:solidFill>
                <a:latin typeface="Montserrat"/>
                <a:ea typeface="Montserrat"/>
                <a:cs typeface="Montserrat"/>
                <a:sym typeface="Montserrat"/>
              </a:rPr>
              <a:t>Evaluation du modèle VGG19 avec des poids aléatoires </a:t>
            </a:r>
            <a:endParaRPr b="1" sz="3000">
              <a:solidFill>
                <a:srgbClr val="22726D"/>
              </a:solidFill>
              <a:latin typeface="Montserrat"/>
              <a:ea typeface="Montserrat"/>
              <a:cs typeface="Montserrat"/>
              <a:sym typeface="Montserrat"/>
            </a:endParaRPr>
          </a:p>
        </p:txBody>
      </p:sp>
      <p:pic>
        <p:nvPicPr>
          <p:cNvPr id="227" name="Google Shape;227;g39dc9214267_0_82"/>
          <p:cNvPicPr preferRelativeResize="0"/>
          <p:nvPr/>
        </p:nvPicPr>
        <p:blipFill>
          <a:blip r:embed="rId3">
            <a:alphaModFix/>
          </a:blip>
          <a:stretch>
            <a:fillRect/>
          </a:stretch>
        </p:blipFill>
        <p:spPr>
          <a:xfrm>
            <a:off x="349875" y="1444825"/>
            <a:ext cx="8444231" cy="3000226"/>
          </a:xfrm>
          <a:prstGeom prst="rect">
            <a:avLst/>
          </a:prstGeom>
          <a:noFill/>
          <a:ln>
            <a:noFill/>
          </a:ln>
        </p:spPr>
      </p:pic>
      <p:pic>
        <p:nvPicPr>
          <p:cNvPr id="228" name="Google Shape;228;g39dc9214267_0_82"/>
          <p:cNvPicPr preferRelativeResize="0"/>
          <p:nvPr/>
        </p:nvPicPr>
        <p:blipFill>
          <a:blip r:embed="rId4">
            <a:alphaModFix/>
          </a:blip>
          <a:stretch>
            <a:fillRect/>
          </a:stretch>
        </p:blipFill>
        <p:spPr>
          <a:xfrm>
            <a:off x="771775" y="4445050"/>
            <a:ext cx="7651500" cy="65667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graphicFrame>
        <p:nvGraphicFramePr>
          <p:cNvPr id="233" name="Google Shape;233;g39dc9214267_0_33"/>
          <p:cNvGraphicFramePr/>
          <p:nvPr/>
        </p:nvGraphicFramePr>
        <p:xfrm>
          <a:off x="1146450" y="1648025"/>
          <a:ext cx="3000000" cy="3000000"/>
        </p:xfrm>
        <a:graphic>
          <a:graphicData uri="http://schemas.openxmlformats.org/drawingml/2006/table">
            <a:tbl>
              <a:tblPr>
                <a:noFill/>
                <a:tableStyleId>{8AD14D85-F841-4C2D-BC02-5365E79DA365}</a:tableStyleId>
              </a:tblPr>
              <a:tblGrid>
                <a:gridCol w="1638300"/>
                <a:gridCol w="5038725"/>
              </a:tblGrid>
              <a:tr h="400050">
                <a:tc>
                  <a:txBody>
                    <a:bodyPr/>
                    <a:lstStyle/>
                    <a:p>
                      <a:pPr indent="0" lvl="0" marL="0" rtl="0" algn="l">
                        <a:lnSpc>
                          <a:spcPct val="115000"/>
                        </a:lnSpc>
                        <a:spcBef>
                          <a:spcPts val="0"/>
                        </a:spcBef>
                        <a:spcAft>
                          <a:spcPts val="0"/>
                        </a:spcAft>
                        <a:buNone/>
                      </a:pPr>
                      <a:r>
                        <a:rPr b="1" lang="fr-FR" sz="1600">
                          <a:solidFill>
                            <a:srgbClr val="22726D"/>
                          </a:solidFill>
                        </a:rPr>
                        <a:t>Composant</a:t>
                      </a:r>
                      <a:endParaRPr b="1" sz="1600">
                        <a:solidFill>
                          <a:srgbClr val="22726D"/>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FR" sz="1600">
                          <a:solidFill>
                            <a:srgbClr val="22726D"/>
                          </a:solidFill>
                        </a:rPr>
                        <a:t>Description</a:t>
                      </a:r>
                      <a:endParaRPr b="1" sz="1600">
                        <a:solidFill>
                          <a:srgbClr val="22726D"/>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90525">
                <a:tc>
                  <a:txBody>
                    <a:bodyPr/>
                    <a:lstStyle/>
                    <a:p>
                      <a:pPr indent="0" lvl="0" marL="0" rtl="0" algn="l">
                        <a:lnSpc>
                          <a:spcPct val="115000"/>
                        </a:lnSpc>
                        <a:spcBef>
                          <a:spcPts val="0"/>
                        </a:spcBef>
                        <a:spcAft>
                          <a:spcPts val="0"/>
                        </a:spcAft>
                        <a:buNone/>
                      </a:pPr>
                      <a:r>
                        <a:rPr b="1" lang="fr-FR" sz="1200"/>
                        <a:t>Base</a:t>
                      </a:r>
                      <a:endParaRPr b="1"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VGG19 pré-entraîné sur ImageNet (include_top=False)</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571500">
                <a:tc>
                  <a:txBody>
                    <a:bodyPr/>
                    <a:lstStyle/>
                    <a:p>
                      <a:pPr indent="0" lvl="0" marL="0" rtl="0" algn="l">
                        <a:lnSpc>
                          <a:spcPct val="115000"/>
                        </a:lnSpc>
                        <a:spcBef>
                          <a:spcPts val="0"/>
                        </a:spcBef>
                        <a:spcAft>
                          <a:spcPts val="0"/>
                        </a:spcAft>
                        <a:buNone/>
                      </a:pPr>
                      <a:r>
                        <a:rPr b="1" lang="fr-FR" sz="1200"/>
                        <a:t>Couches gelées</a:t>
                      </a:r>
                      <a:endParaRPr b="1"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sz="1200"/>
                        <a:t>Toutes sauf les 10 dernières</a:t>
                      </a:r>
                      <a:endParaRPr sz="1200"/>
                    </a:p>
                    <a:p>
                      <a:pPr indent="0" lvl="0" marL="0" rtl="0" algn="l">
                        <a:lnSpc>
                          <a:spcPct val="115000"/>
                        </a:lnSpc>
                        <a:spcBef>
                          <a:spcPts val="0"/>
                        </a:spcBef>
                        <a:spcAft>
                          <a:spcPts val="0"/>
                        </a:spcAft>
                        <a:buNone/>
                      </a:pPr>
                      <a:r>
                        <a:rPr b="1" lang="fr-FR" sz="1300"/>
                        <a:t>(for layer in base_model.layers[:-10]:</a:t>
                      </a:r>
                      <a:endParaRPr b="1" sz="1300"/>
                    </a:p>
                    <a:p>
                      <a:pPr indent="0" lvl="0" marL="0" rtl="0" algn="l">
                        <a:lnSpc>
                          <a:spcPct val="115000"/>
                        </a:lnSpc>
                        <a:spcBef>
                          <a:spcPts val="0"/>
                        </a:spcBef>
                        <a:spcAft>
                          <a:spcPts val="0"/>
                        </a:spcAft>
                        <a:buNone/>
                      </a:pPr>
                      <a:r>
                        <a:rPr b="1" lang="fr-FR" sz="1300"/>
                        <a:t>layer.trainable=False)</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714375">
                <a:tc>
                  <a:txBody>
                    <a:bodyPr/>
                    <a:lstStyle/>
                    <a:p>
                      <a:pPr indent="0" lvl="0" marL="0" rtl="0" algn="l">
                        <a:lnSpc>
                          <a:spcPct val="115000"/>
                        </a:lnSpc>
                        <a:spcBef>
                          <a:spcPts val="0"/>
                        </a:spcBef>
                        <a:spcAft>
                          <a:spcPts val="0"/>
                        </a:spcAft>
                        <a:buNone/>
                      </a:pPr>
                      <a:r>
                        <a:rPr b="1" lang="fr-FR" sz="1200"/>
                        <a:t>Couches personnalisées</a:t>
                      </a:r>
                      <a:endParaRPr b="1"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sz="1200"/>
                        <a:t>1.</a:t>
                      </a:r>
                      <a:r>
                        <a:rPr b="1" lang="fr-FR" sz="1200"/>
                        <a:t>GlobalAveragePooling2D()</a:t>
                      </a:r>
                      <a:endParaRPr b="1" sz="1200"/>
                    </a:p>
                    <a:p>
                      <a:pPr indent="0" lvl="0" marL="0" rtl="0" algn="l">
                        <a:lnSpc>
                          <a:spcPct val="115000"/>
                        </a:lnSpc>
                        <a:spcBef>
                          <a:spcPts val="0"/>
                        </a:spcBef>
                        <a:spcAft>
                          <a:spcPts val="0"/>
                        </a:spcAft>
                        <a:buNone/>
                      </a:pPr>
                      <a:r>
                        <a:rPr b="1" lang="fr-FR" sz="1200"/>
                        <a:t>2. Dense(256, activation='relu’)</a:t>
                      </a:r>
                      <a:endParaRPr b="1" sz="1200"/>
                    </a:p>
                    <a:p>
                      <a:pPr indent="0" lvl="0" marL="0" rtl="0" algn="l">
                        <a:lnSpc>
                          <a:spcPct val="115000"/>
                        </a:lnSpc>
                        <a:spcBef>
                          <a:spcPts val="0"/>
                        </a:spcBef>
                        <a:spcAft>
                          <a:spcPts val="0"/>
                        </a:spcAft>
                        <a:buNone/>
                      </a:pPr>
                      <a:r>
                        <a:rPr b="1" lang="fr-FR" sz="1200"/>
                        <a:t> 3. Dropout(0.5)</a:t>
                      </a:r>
                      <a:endParaRPr b="1" sz="1200"/>
                    </a:p>
                    <a:p>
                      <a:pPr indent="0" lvl="0" marL="0" rtl="0" algn="l">
                        <a:lnSpc>
                          <a:spcPct val="115000"/>
                        </a:lnSpc>
                        <a:spcBef>
                          <a:spcPts val="0"/>
                        </a:spcBef>
                        <a:spcAft>
                          <a:spcPts val="0"/>
                        </a:spcAft>
                        <a:buNone/>
                      </a:pPr>
                      <a:r>
                        <a:rPr b="1" lang="fr-FR" sz="1200"/>
                        <a:t>4. Dense(128, activation='sigmoid')</a:t>
                      </a:r>
                      <a:endParaRPr b="1"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234" name="Google Shape;234;g39dc9214267_0_33"/>
          <p:cNvSpPr txBox="1"/>
          <p:nvPr/>
        </p:nvSpPr>
        <p:spPr>
          <a:xfrm>
            <a:off x="1478225" y="231950"/>
            <a:ext cx="7231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3000">
                <a:solidFill>
                  <a:schemeClr val="dk2"/>
                </a:solidFill>
                <a:latin typeface="Montserrat"/>
                <a:ea typeface="Montserrat"/>
                <a:cs typeface="Montserrat"/>
                <a:sym typeface="Montserrat"/>
              </a:rPr>
              <a:t>Resnet50V2 </a:t>
            </a:r>
            <a:endParaRPr b="1" sz="3000">
              <a:solidFill>
                <a:schemeClr val="dk2"/>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9dc9214267_0_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graphicFrame>
        <p:nvGraphicFramePr>
          <p:cNvPr id="240" name="Google Shape;240;g39dc9214267_0_51"/>
          <p:cNvGraphicFramePr/>
          <p:nvPr/>
        </p:nvGraphicFramePr>
        <p:xfrm>
          <a:off x="3766729" y="129463"/>
          <a:ext cx="3000000" cy="3000000"/>
        </p:xfrm>
        <a:graphic>
          <a:graphicData uri="http://schemas.openxmlformats.org/drawingml/2006/table">
            <a:tbl>
              <a:tblPr>
                <a:noFill/>
                <a:tableStyleId>{8AD14D85-F841-4C2D-BC02-5365E79DA365}</a:tableStyleId>
              </a:tblPr>
              <a:tblGrid>
                <a:gridCol w="2158925"/>
                <a:gridCol w="3094675"/>
              </a:tblGrid>
              <a:tr h="520450">
                <a:tc>
                  <a:txBody>
                    <a:bodyPr/>
                    <a:lstStyle/>
                    <a:p>
                      <a:pPr indent="0" lvl="0" marL="0" rtl="0" algn="l">
                        <a:lnSpc>
                          <a:spcPct val="115000"/>
                        </a:lnSpc>
                        <a:spcBef>
                          <a:spcPts val="0"/>
                        </a:spcBef>
                        <a:spcAft>
                          <a:spcPts val="0"/>
                        </a:spcAft>
                        <a:buNone/>
                      </a:pPr>
                      <a:r>
                        <a:rPr b="1" lang="fr-FR" sz="1600">
                          <a:solidFill>
                            <a:srgbClr val="22726D"/>
                          </a:solidFill>
                        </a:rPr>
                        <a:t>Hyperparamètre</a:t>
                      </a:r>
                      <a:endParaRPr b="1" sz="1600">
                        <a:solidFill>
                          <a:srgbClr val="22726D"/>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fr-FR" sz="1600">
                          <a:solidFill>
                            <a:srgbClr val="22726D"/>
                          </a:solidFill>
                        </a:rPr>
                        <a:t>Valeur</a:t>
                      </a:r>
                      <a:endParaRPr b="1" sz="1600">
                        <a:solidFill>
                          <a:srgbClr val="22726D"/>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94525">
                <a:tc>
                  <a:txBody>
                    <a:bodyPr/>
                    <a:lstStyle/>
                    <a:p>
                      <a:pPr indent="0" lvl="0" marL="0" rtl="0" algn="l">
                        <a:lnSpc>
                          <a:spcPct val="115000"/>
                        </a:lnSpc>
                        <a:spcBef>
                          <a:spcPts val="0"/>
                        </a:spcBef>
                        <a:spcAft>
                          <a:spcPts val="0"/>
                        </a:spcAft>
                        <a:buNone/>
                      </a:pPr>
                      <a:r>
                        <a:rPr b="1" lang="fr-FR"/>
                        <a:t>Optimiseur</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Adam</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94525">
                <a:tc>
                  <a:txBody>
                    <a:bodyPr/>
                    <a:lstStyle/>
                    <a:p>
                      <a:pPr indent="0" lvl="0" marL="0" rtl="0" algn="l">
                        <a:lnSpc>
                          <a:spcPct val="115000"/>
                        </a:lnSpc>
                        <a:spcBef>
                          <a:spcPts val="0"/>
                        </a:spcBef>
                        <a:spcAft>
                          <a:spcPts val="0"/>
                        </a:spcAft>
                        <a:buNone/>
                      </a:pPr>
                      <a:r>
                        <a:rPr b="1" lang="fr-FR"/>
                        <a:t>Epochs max</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50</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848450">
                <a:tc>
                  <a:txBody>
                    <a:bodyPr/>
                    <a:lstStyle/>
                    <a:p>
                      <a:pPr indent="0" lvl="0" marL="0" rtl="0" algn="l">
                        <a:lnSpc>
                          <a:spcPct val="115000"/>
                        </a:lnSpc>
                        <a:spcBef>
                          <a:spcPts val="0"/>
                        </a:spcBef>
                        <a:spcAft>
                          <a:spcPts val="0"/>
                        </a:spcAft>
                        <a:buNone/>
                      </a:pPr>
                      <a:r>
                        <a:rPr b="1" lang="fr-FR"/>
                        <a:t>Early Stopping</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patience=6,monitor='val_loss'</a:t>
                      </a:r>
                      <a:endParaRPr/>
                    </a:p>
                    <a:p>
                      <a:pPr indent="0" lvl="0" marL="0" rtl="0" algn="l">
                        <a:lnSpc>
                          <a:spcPct val="115000"/>
                        </a:lnSpc>
                        <a:spcBef>
                          <a:spcPts val="0"/>
                        </a:spcBef>
                        <a:spcAft>
                          <a:spcPts val="0"/>
                        </a:spcAft>
                        <a:buNone/>
                      </a:pPr>
                      <a:r>
                        <a:rPr lang="fr-FR"/>
                        <a:t>restore_best_weights=True</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843725">
                <a:tc>
                  <a:txBody>
                    <a:bodyPr/>
                    <a:lstStyle/>
                    <a:p>
                      <a:pPr indent="0" lvl="0" marL="0" rtl="0" algn="l">
                        <a:lnSpc>
                          <a:spcPct val="115000"/>
                        </a:lnSpc>
                        <a:spcBef>
                          <a:spcPts val="0"/>
                        </a:spcBef>
                        <a:spcAft>
                          <a:spcPts val="0"/>
                        </a:spcAft>
                        <a:buNone/>
                      </a:pPr>
                      <a:r>
                        <a:rPr b="1" lang="fr-FR">
                          <a:solidFill>
                            <a:srgbClr val="0070C0"/>
                          </a:solidFill>
                        </a:rPr>
                        <a:t>Class weights</a:t>
                      </a:r>
                      <a:endParaRPr b="1">
                        <a:solidFill>
                          <a:srgbClr val="0070C0"/>
                        </a:solidFill>
                      </a:endParaRPr>
                    </a:p>
                    <a:p>
                      <a:pPr indent="0" lvl="0" marL="0" rtl="0" algn="l">
                        <a:lnSpc>
                          <a:spcPct val="115000"/>
                        </a:lnSpc>
                        <a:spcBef>
                          <a:spcPts val="0"/>
                        </a:spcBef>
                        <a:spcAft>
                          <a:spcPts val="0"/>
                        </a:spcAft>
                        <a:buNone/>
                      </a:pPr>
                      <a:r>
                        <a:rPr b="1" lang="fr-FR">
                          <a:solidFill>
                            <a:srgbClr val="0070C0"/>
                          </a:solidFill>
                        </a:rPr>
                        <a:t>('balanced')</a:t>
                      </a:r>
                      <a:endParaRPr b="1">
                        <a:solidFill>
                          <a:srgbClr val="0070C0"/>
                        </a:solidFill>
                      </a:endParaRPr>
                    </a:p>
                    <a:p>
                      <a:pPr indent="0" lvl="0" marL="0" rtl="0" algn="l">
                        <a:lnSpc>
                          <a:spcPct val="115000"/>
                        </a:lnSpc>
                        <a:spcBef>
                          <a:spcPts val="0"/>
                        </a:spcBef>
                        <a:spcAft>
                          <a:spcPts val="0"/>
                        </a:spcAft>
                        <a:buNone/>
                      </a:pPr>
                      <a:r>
                        <a:t/>
                      </a:r>
                      <a:endParaRPr b="1">
                        <a:solidFill>
                          <a:srgbClr val="0070C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Équilibrage automatique selon les labels</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670125">
                <a:tc>
                  <a:txBody>
                    <a:bodyPr/>
                    <a:lstStyle/>
                    <a:p>
                      <a:pPr indent="0" lvl="0" marL="0" rtl="0" algn="l">
                        <a:lnSpc>
                          <a:spcPct val="115000"/>
                        </a:lnSpc>
                        <a:spcBef>
                          <a:spcPts val="1200"/>
                        </a:spcBef>
                        <a:spcAft>
                          <a:spcPts val="1200"/>
                        </a:spcAft>
                        <a:buNone/>
                      </a:pPr>
                      <a:r>
                        <a:rPr b="1" lang="fr-FR">
                          <a:solidFill>
                            <a:srgbClr val="0070C0"/>
                          </a:solidFill>
                        </a:rPr>
                        <a:t>ModelCheckpoint</a:t>
                      </a:r>
                      <a:endParaRPr b="1">
                        <a:solidFill>
                          <a:srgbClr val="0070C0"/>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sz="1300"/>
                        <a:t>monitor='val_loss'</a:t>
                      </a:r>
                      <a:endParaRPr sz="1300"/>
                    </a:p>
                    <a:p>
                      <a:pPr indent="0" lvl="0" marL="0" rtl="0" algn="l">
                        <a:lnSpc>
                          <a:spcPct val="115000"/>
                        </a:lnSpc>
                        <a:spcBef>
                          <a:spcPts val="0"/>
                        </a:spcBef>
                        <a:spcAft>
                          <a:spcPts val="0"/>
                        </a:spcAft>
                        <a:buNone/>
                      </a:pPr>
                      <a:r>
                        <a:rPr lang="fr-FR" sz="1300"/>
                        <a:t>mode=’min’</a:t>
                      </a:r>
                      <a:endParaRPr sz="1300"/>
                    </a:p>
                    <a:p>
                      <a:pPr indent="0" lvl="0" marL="0" rtl="0" algn="l">
                        <a:lnSpc>
                          <a:spcPct val="115000"/>
                        </a:lnSpc>
                        <a:spcBef>
                          <a:spcPts val="0"/>
                        </a:spcBef>
                        <a:spcAft>
                          <a:spcPts val="0"/>
                        </a:spcAft>
                        <a:buNone/>
                      </a:pPr>
                      <a:r>
                        <a:rPr lang="fr-FR" sz="1300"/>
                        <a:t>filepath=’best_modeleVGG19.keras’</a:t>
                      </a:r>
                      <a:endParaRPr sz="1300"/>
                    </a:p>
                    <a:p>
                      <a:pPr indent="0" lvl="0" marL="0" rtl="0" algn="l">
                        <a:lnSpc>
                          <a:spcPct val="115000"/>
                        </a:lnSpc>
                        <a:spcBef>
                          <a:spcPts val="0"/>
                        </a:spcBef>
                        <a:spcAft>
                          <a:spcPts val="0"/>
                        </a:spcAft>
                        <a:buNone/>
                      </a:pPr>
                      <a:r>
                        <a:t/>
                      </a:r>
                      <a:endParaRPr sz="1050">
                        <a:solidFill>
                          <a:srgbClr val="D4D4D4"/>
                        </a:solidFill>
                        <a:highlight>
                          <a:srgbClr val="383838"/>
                        </a:highlight>
                        <a:latin typeface="Courier New"/>
                        <a:ea typeface="Courier New"/>
                        <a:cs typeface="Courier New"/>
                        <a:sym typeface="Courier New"/>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621500">
                <a:tc>
                  <a:txBody>
                    <a:bodyPr/>
                    <a:lstStyle/>
                    <a:p>
                      <a:pPr indent="0" lvl="0" marL="0" rtl="0" algn="l">
                        <a:lnSpc>
                          <a:spcPct val="115000"/>
                        </a:lnSpc>
                        <a:spcBef>
                          <a:spcPts val="0"/>
                        </a:spcBef>
                        <a:spcAft>
                          <a:spcPts val="0"/>
                        </a:spcAft>
                        <a:buNone/>
                      </a:pPr>
                      <a:r>
                        <a:rPr b="1" lang="fr-FR"/>
                        <a:t>Couche Dense</a:t>
                      </a:r>
                      <a:endParaRPr b="1"/>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FR"/>
                        <a:t>256 unités, activation ReLU</a:t>
                      </a:r>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241" name="Google Shape;241;g39dc9214267_0_51"/>
          <p:cNvSpPr txBox="1"/>
          <p:nvPr/>
        </p:nvSpPr>
        <p:spPr>
          <a:xfrm>
            <a:off x="584650" y="2359375"/>
            <a:ext cx="3000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2300">
                <a:solidFill>
                  <a:srgbClr val="22726D"/>
                </a:solidFill>
                <a:latin typeface="Montserrat"/>
                <a:ea typeface="Montserrat"/>
                <a:cs typeface="Montserrat"/>
                <a:sym typeface="Montserrat"/>
              </a:rPr>
              <a:t>Hyperparamètres </a:t>
            </a:r>
            <a:endParaRPr b="1" sz="2300">
              <a:solidFill>
                <a:srgbClr val="22726D"/>
              </a:solidFill>
              <a:latin typeface="Montserrat"/>
              <a:ea typeface="Montserrat"/>
              <a:cs typeface="Montserrat"/>
              <a:sym typeface="Montserrat"/>
            </a:endParaRPr>
          </a:p>
          <a:p>
            <a:pPr indent="0" lvl="0" marL="0" rtl="0" algn="l">
              <a:spcBef>
                <a:spcPts val="0"/>
              </a:spcBef>
              <a:spcAft>
                <a:spcPts val="0"/>
              </a:spcAft>
              <a:buNone/>
            </a:pPr>
            <a:r>
              <a:rPr b="1" lang="fr-FR" sz="2300">
                <a:solidFill>
                  <a:srgbClr val="22726D"/>
                </a:solidFill>
                <a:latin typeface="Montserrat"/>
                <a:ea typeface="Montserrat"/>
                <a:cs typeface="Montserrat"/>
                <a:sym typeface="Montserrat"/>
              </a:rPr>
              <a:t>choisis</a:t>
            </a:r>
            <a:endParaRPr b="1" sz="2300">
              <a:solidFill>
                <a:srgbClr val="22726D"/>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9dc9214267_0_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sp>
        <p:nvSpPr>
          <p:cNvPr id="247" name="Google Shape;247;g39dc9214267_0_57"/>
          <p:cNvSpPr txBox="1"/>
          <p:nvPr/>
        </p:nvSpPr>
        <p:spPr>
          <a:xfrm>
            <a:off x="912825" y="44800"/>
            <a:ext cx="7870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3000">
                <a:solidFill>
                  <a:srgbClr val="22726D"/>
                </a:solidFill>
                <a:latin typeface="Montserrat"/>
                <a:ea typeface="Montserrat"/>
                <a:cs typeface="Montserrat"/>
                <a:sym typeface="Montserrat"/>
              </a:rPr>
              <a:t>Evaluation du modèle Resnet50V2</a:t>
            </a:r>
            <a:endParaRPr b="1" sz="3000">
              <a:solidFill>
                <a:srgbClr val="22726D"/>
              </a:solidFill>
              <a:latin typeface="Montserrat"/>
              <a:ea typeface="Montserrat"/>
              <a:cs typeface="Montserrat"/>
              <a:sym typeface="Montserrat"/>
            </a:endParaRPr>
          </a:p>
        </p:txBody>
      </p:sp>
      <p:pic>
        <p:nvPicPr>
          <p:cNvPr id="248" name="Google Shape;248;g39dc9214267_0_57"/>
          <p:cNvPicPr preferRelativeResize="0"/>
          <p:nvPr/>
        </p:nvPicPr>
        <p:blipFill rotWithShape="1">
          <a:blip r:embed="rId3">
            <a:alphaModFix/>
          </a:blip>
          <a:srcRect b="2856" l="1177" r="1537" t="1914"/>
          <a:stretch/>
        </p:blipFill>
        <p:spPr>
          <a:xfrm>
            <a:off x="256175" y="904500"/>
            <a:ext cx="8599850" cy="3018601"/>
          </a:xfrm>
          <a:prstGeom prst="rect">
            <a:avLst/>
          </a:prstGeom>
          <a:noFill/>
          <a:ln>
            <a:noFill/>
          </a:ln>
        </p:spPr>
      </p:pic>
      <p:pic>
        <p:nvPicPr>
          <p:cNvPr id="249" name="Google Shape;249;g39dc9214267_0_57"/>
          <p:cNvPicPr preferRelativeResize="0"/>
          <p:nvPr/>
        </p:nvPicPr>
        <p:blipFill>
          <a:blip r:embed="rId4">
            <a:alphaModFix/>
          </a:blip>
          <a:stretch>
            <a:fillRect/>
          </a:stretch>
        </p:blipFill>
        <p:spPr>
          <a:xfrm>
            <a:off x="216250" y="4175801"/>
            <a:ext cx="8839200" cy="48467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9dc9214267_0_64"/>
          <p:cNvSpPr txBox="1"/>
          <p:nvPr>
            <p:ph type="title"/>
          </p:nvPr>
        </p:nvSpPr>
        <p:spPr>
          <a:xfrm>
            <a:off x="1617800" y="180675"/>
            <a:ext cx="5503500" cy="7029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fr-FR" sz="2300">
                <a:solidFill>
                  <a:srgbClr val="22726D"/>
                </a:solidFill>
              </a:rPr>
              <a:t>Matrice de confusion -Resnet </a:t>
            </a:r>
            <a:endParaRPr sz="2300">
              <a:solidFill>
                <a:srgbClr val="22726D"/>
              </a:solidFill>
            </a:endParaRPr>
          </a:p>
        </p:txBody>
      </p:sp>
      <p:sp>
        <p:nvSpPr>
          <p:cNvPr id="255" name="Google Shape;255;g39dc9214267_0_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pic>
        <p:nvPicPr>
          <p:cNvPr id="256" name="Google Shape;256;g39dc9214267_0_64"/>
          <p:cNvPicPr preferRelativeResize="0"/>
          <p:nvPr/>
        </p:nvPicPr>
        <p:blipFill>
          <a:blip r:embed="rId3">
            <a:alphaModFix/>
          </a:blip>
          <a:stretch>
            <a:fillRect/>
          </a:stretch>
        </p:blipFill>
        <p:spPr>
          <a:xfrm>
            <a:off x="1986375" y="883575"/>
            <a:ext cx="4766360" cy="3866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9dc9214267_0_70"/>
          <p:cNvSpPr txBox="1"/>
          <p:nvPr>
            <p:ph type="title"/>
          </p:nvPr>
        </p:nvSpPr>
        <p:spPr>
          <a:xfrm>
            <a:off x="386650" y="96250"/>
            <a:ext cx="5503500" cy="7029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fr-FR" sz="2700">
                <a:solidFill>
                  <a:srgbClr val="22726D"/>
                </a:solidFill>
              </a:rPr>
              <a:t>Les métriques </a:t>
            </a:r>
            <a:endParaRPr sz="2700">
              <a:solidFill>
                <a:srgbClr val="22726D"/>
              </a:solidFill>
            </a:endParaRPr>
          </a:p>
        </p:txBody>
      </p:sp>
      <p:sp>
        <p:nvSpPr>
          <p:cNvPr id="262" name="Google Shape;262;g39dc9214267_0_7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pic>
        <p:nvPicPr>
          <p:cNvPr id="263" name="Google Shape;263;g39dc9214267_0_70"/>
          <p:cNvPicPr preferRelativeResize="0"/>
          <p:nvPr/>
        </p:nvPicPr>
        <p:blipFill>
          <a:blip r:embed="rId3">
            <a:alphaModFix/>
          </a:blip>
          <a:stretch>
            <a:fillRect/>
          </a:stretch>
        </p:blipFill>
        <p:spPr>
          <a:xfrm>
            <a:off x="1328825" y="1057275"/>
            <a:ext cx="5212900" cy="3403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9d95ce2960_0_58"/>
          <p:cNvSpPr txBox="1"/>
          <p:nvPr>
            <p:ph type="title"/>
          </p:nvPr>
        </p:nvSpPr>
        <p:spPr>
          <a:xfrm>
            <a:off x="853375" y="332150"/>
            <a:ext cx="7703400" cy="657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fr-FR" sz="2600"/>
              <a:t>Comparaison entre VGG19 et ResNet</a:t>
            </a:r>
            <a:endParaRPr sz="2600"/>
          </a:p>
        </p:txBody>
      </p:sp>
      <p:sp>
        <p:nvSpPr>
          <p:cNvPr id="269" name="Google Shape;269;g39d95ce2960_0_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fr-FR"/>
              <a:t>‹#›</a:t>
            </a:fld>
            <a:endParaRPr/>
          </a:p>
        </p:txBody>
      </p:sp>
      <p:graphicFrame>
        <p:nvGraphicFramePr>
          <p:cNvPr id="270" name="Google Shape;270;g39d95ce2960_0_58"/>
          <p:cNvGraphicFramePr/>
          <p:nvPr/>
        </p:nvGraphicFramePr>
        <p:xfrm>
          <a:off x="598988" y="1423825"/>
          <a:ext cx="3000000" cy="3000000"/>
        </p:xfrm>
        <a:graphic>
          <a:graphicData uri="http://schemas.openxmlformats.org/drawingml/2006/table">
            <a:tbl>
              <a:tblPr>
                <a:noFill/>
                <a:tableStyleId>{4E2C3A9E-5F90-42D1-9D69-29F0247E3D63}</a:tableStyleId>
              </a:tblPr>
              <a:tblGrid>
                <a:gridCol w="1515175"/>
                <a:gridCol w="1515175"/>
                <a:gridCol w="1515175"/>
                <a:gridCol w="1515175"/>
                <a:gridCol w="2151475"/>
              </a:tblGrid>
              <a:tr h="346400">
                <a:tc>
                  <a:txBody>
                    <a:bodyPr/>
                    <a:lstStyle/>
                    <a:p>
                      <a:pPr indent="0" lvl="0" marL="0" rtl="0" algn="l">
                        <a:lnSpc>
                          <a:spcPct val="163043"/>
                        </a:lnSpc>
                        <a:spcBef>
                          <a:spcPts val="0"/>
                        </a:spcBef>
                        <a:spcAft>
                          <a:spcPts val="0"/>
                        </a:spcAft>
                        <a:buNone/>
                      </a:pPr>
                      <a:r>
                        <a:rPr b="1" lang="fr-FR" sz="1150">
                          <a:solidFill>
                            <a:srgbClr val="0F1115"/>
                          </a:solidFill>
                          <a:latin typeface="Roboto"/>
                          <a:ea typeface="Roboto"/>
                          <a:cs typeface="Roboto"/>
                          <a:sym typeface="Roboto"/>
                        </a:rPr>
                        <a:t>Métrique</a:t>
                      </a:r>
                      <a:endParaRPr b="1" sz="1150">
                        <a:solidFill>
                          <a:srgbClr val="0F1115"/>
                        </a:solidFill>
                        <a:latin typeface="Roboto"/>
                        <a:ea typeface="Roboto"/>
                        <a:cs typeface="Roboto"/>
                        <a:sym typeface="Roboto"/>
                      </a:endParaRPr>
                    </a:p>
                  </a:txBody>
                  <a:tcPr marT="95250" marB="95250" marR="152400" marL="91425">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fr-FR" sz="1150">
                          <a:solidFill>
                            <a:srgbClr val="0F1115"/>
                          </a:solidFill>
                          <a:latin typeface="Roboto"/>
                          <a:ea typeface="Roboto"/>
                          <a:cs typeface="Roboto"/>
                          <a:sym typeface="Roboto"/>
                        </a:rPr>
                        <a:t>VGG19</a:t>
                      </a:r>
                      <a:endParaRPr b="1"/>
                    </a:p>
                  </a:txBody>
                  <a:tcPr marT="91425" marB="91425" marR="91425" marL="91425"/>
                </a:tc>
                <a:tc>
                  <a:txBody>
                    <a:bodyPr/>
                    <a:lstStyle/>
                    <a:p>
                      <a:pPr indent="0" lvl="0" marL="0" rtl="0" algn="l">
                        <a:spcBef>
                          <a:spcPts val="0"/>
                        </a:spcBef>
                        <a:spcAft>
                          <a:spcPts val="0"/>
                        </a:spcAft>
                        <a:buNone/>
                      </a:pPr>
                      <a:r>
                        <a:rPr b="1" lang="fr-FR" sz="1150">
                          <a:solidFill>
                            <a:srgbClr val="0F1115"/>
                          </a:solidFill>
                          <a:latin typeface="Roboto"/>
                          <a:ea typeface="Roboto"/>
                          <a:cs typeface="Roboto"/>
                          <a:sym typeface="Roboto"/>
                        </a:rPr>
                        <a:t>ResNet</a:t>
                      </a:r>
                      <a:endParaRPr b="1"/>
                    </a:p>
                  </a:txBody>
                  <a:tcPr marT="91425" marB="91425" marR="91425" marL="91425"/>
                </a:tc>
                <a:tc>
                  <a:txBody>
                    <a:bodyPr/>
                    <a:lstStyle/>
                    <a:p>
                      <a:pPr indent="0" lvl="0" marL="0" rtl="0" algn="l">
                        <a:spcBef>
                          <a:spcPts val="0"/>
                        </a:spcBef>
                        <a:spcAft>
                          <a:spcPts val="0"/>
                        </a:spcAft>
                        <a:buNone/>
                      </a:pPr>
                      <a:r>
                        <a:rPr b="1" lang="fr-FR" sz="1150">
                          <a:solidFill>
                            <a:srgbClr val="0F1115"/>
                          </a:solidFill>
                          <a:latin typeface="Roboto"/>
                          <a:ea typeface="Roboto"/>
                          <a:cs typeface="Roboto"/>
                          <a:sym typeface="Roboto"/>
                        </a:rPr>
                        <a:t>Différence</a:t>
                      </a:r>
                      <a:endParaRPr b="1"/>
                    </a:p>
                  </a:txBody>
                  <a:tcPr marT="91425" marB="91425" marR="91425" marL="91425"/>
                </a:tc>
                <a:tc>
                  <a:txBody>
                    <a:bodyPr/>
                    <a:lstStyle/>
                    <a:p>
                      <a:pPr indent="0" lvl="0" marL="0" rtl="0" algn="l">
                        <a:spcBef>
                          <a:spcPts val="0"/>
                        </a:spcBef>
                        <a:spcAft>
                          <a:spcPts val="0"/>
                        </a:spcAft>
                        <a:buNone/>
                      </a:pPr>
                      <a:r>
                        <a:rPr b="1" lang="fr-FR" sz="1150">
                          <a:solidFill>
                            <a:srgbClr val="0F1115"/>
                          </a:solidFill>
                          <a:latin typeface="Roboto"/>
                          <a:ea typeface="Roboto"/>
                          <a:cs typeface="Roboto"/>
                          <a:sym typeface="Roboto"/>
                        </a:rPr>
                        <a:t>Amélioration</a:t>
                      </a:r>
                      <a:endParaRPr b="1"/>
                    </a:p>
                  </a:txBody>
                  <a:tcPr marT="91425" marB="91425" marR="91425" marL="91425"/>
                </a:tc>
              </a:tr>
              <a:tr h="831275">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Accuracy</a:t>
                      </a:r>
                      <a:endParaRPr/>
                    </a:p>
                  </a:txBody>
                  <a:tcPr marT="91425" marB="91425" marR="91425" marL="91425">
                    <a:lnT cap="flat" cmpd="sng" w="76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92.83%</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96.67%</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+3.84%</a:t>
                      </a:r>
                      <a:endParaRPr/>
                    </a:p>
                  </a:txBody>
                  <a:tcPr marT="91425" marB="91425" marR="91425" marL="91425"/>
                </a:tc>
                <a:tc>
                  <a:txBody>
                    <a:bodyPr/>
                    <a:lstStyle/>
                    <a:p>
                      <a:pPr indent="0" lvl="0" marL="0" rtl="0" algn="l">
                        <a:spcBef>
                          <a:spcPts val="0"/>
                        </a:spcBef>
                        <a:spcAft>
                          <a:spcPts val="0"/>
                        </a:spcAft>
                        <a:buNone/>
                      </a:pPr>
                      <a:r>
                        <a:rPr lang="fr-FR" sz="1200">
                          <a:solidFill>
                            <a:srgbClr val="0F1115"/>
                          </a:solidFill>
                          <a:latin typeface="Roboto"/>
                          <a:ea typeface="Roboto"/>
                          <a:cs typeface="Roboto"/>
                          <a:sym typeface="Roboto"/>
                        </a:rPr>
                        <a:t>ResNet est supérieur à VGG19 sur cette métrique</a:t>
                      </a:r>
                      <a:endParaRPr/>
                    </a:p>
                  </a:txBody>
                  <a:tcPr marT="91425" marB="91425" marR="91425" marL="91425"/>
                </a:tc>
              </a:tr>
              <a:tr h="498750">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Precision</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86.71%</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94.13%</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+7.42%</a:t>
                      </a:r>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fr-FR" sz="1200">
                          <a:solidFill>
                            <a:srgbClr val="0F1115"/>
                          </a:solidFill>
                          <a:latin typeface="Roboto"/>
                          <a:ea typeface="Roboto"/>
                          <a:cs typeface="Roboto"/>
                          <a:sym typeface="Roboto"/>
                        </a:rPr>
                        <a:t>ResNet est meilleur  à VGG19 </a:t>
                      </a:r>
                      <a:endParaRPr/>
                    </a:p>
                  </a:txBody>
                  <a:tcPr marT="91425" marB="91425" marR="91425" marL="91425"/>
                </a:tc>
              </a:tr>
              <a:tr h="498750">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Recall</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85.75%</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93.08%</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+7.33%</a:t>
                      </a:r>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fr-FR" sz="1200">
                          <a:solidFill>
                            <a:srgbClr val="0F1115"/>
                          </a:solidFill>
                          <a:latin typeface="Roboto"/>
                          <a:ea typeface="Roboto"/>
                          <a:cs typeface="Roboto"/>
                          <a:sym typeface="Roboto"/>
                        </a:rPr>
                        <a:t>ResNet est meilleur  à VGG19 </a:t>
                      </a:r>
                      <a:endParaRPr/>
                    </a:p>
                  </a:txBody>
                  <a:tcPr marT="91425" marB="91425" marR="91425" marL="91425"/>
                </a:tc>
              </a:tr>
              <a:tr h="885700">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F1-Score</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86.23%</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93.60%</a:t>
                      </a:r>
                      <a:endParaRPr/>
                    </a:p>
                  </a:txBody>
                  <a:tcPr marT="91425" marB="91425" marR="91425" marL="91425"/>
                </a:tc>
                <a:tc>
                  <a:txBody>
                    <a:bodyPr/>
                    <a:lstStyle/>
                    <a:p>
                      <a:pPr indent="0" lvl="0" marL="0" rtl="0" algn="l">
                        <a:spcBef>
                          <a:spcPts val="0"/>
                        </a:spcBef>
                        <a:spcAft>
                          <a:spcPts val="0"/>
                        </a:spcAft>
                        <a:buNone/>
                      </a:pPr>
                      <a:r>
                        <a:rPr lang="fr-FR" sz="1150">
                          <a:solidFill>
                            <a:srgbClr val="0F1115"/>
                          </a:solidFill>
                          <a:latin typeface="Roboto"/>
                          <a:ea typeface="Roboto"/>
                          <a:cs typeface="Roboto"/>
                          <a:sym typeface="Roboto"/>
                        </a:rPr>
                        <a:t>+7.37%</a:t>
                      </a:r>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fr-FR" sz="1200">
                          <a:solidFill>
                            <a:srgbClr val="0F1115"/>
                          </a:solidFill>
                          <a:latin typeface="Roboto"/>
                          <a:ea typeface="Roboto"/>
                          <a:cs typeface="Roboto"/>
                          <a:sym typeface="Roboto"/>
                        </a:rPr>
                        <a:t>ResNet est meilleur  à VGG19 </a:t>
                      </a:r>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9d95ce2960_0_24"/>
          <p:cNvSpPr txBox="1"/>
          <p:nvPr>
            <p:ph type="title"/>
          </p:nvPr>
        </p:nvSpPr>
        <p:spPr>
          <a:xfrm>
            <a:off x="4543435" y="2203480"/>
            <a:ext cx="5092200" cy="126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4200"/>
              <a:buNone/>
            </a:pPr>
            <a:r>
              <a:rPr lang="fr-FR" sz="3200">
                <a:solidFill>
                  <a:schemeClr val="dk2"/>
                </a:solidFill>
              </a:rPr>
              <a:t>AI Explainable</a:t>
            </a:r>
            <a:endParaRPr b="0" sz="3200">
              <a:solidFill>
                <a:schemeClr val="dk2"/>
              </a:solidFill>
            </a:endParaRPr>
          </a:p>
        </p:txBody>
      </p:sp>
      <p:sp>
        <p:nvSpPr>
          <p:cNvPr id="276" name="Google Shape;276;g39d95ce2960_0_24"/>
          <p:cNvSpPr txBox="1"/>
          <p:nvPr>
            <p:ph idx="2" type="title"/>
          </p:nvPr>
        </p:nvSpPr>
        <p:spPr>
          <a:xfrm>
            <a:off x="6501985" y="1277660"/>
            <a:ext cx="1175100" cy="839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300"/>
              <a:buNone/>
            </a:pPr>
            <a:r>
              <a:rPr lang="fr-FR">
                <a:solidFill>
                  <a:schemeClr val="dk2"/>
                </a:solidFill>
              </a:rPr>
              <a:t>03</a:t>
            </a:r>
            <a:endParaRPr>
              <a:solidFill>
                <a:schemeClr val="dk2"/>
              </a:solidFill>
            </a:endParaRPr>
          </a:p>
        </p:txBody>
      </p:sp>
      <p:pic>
        <p:nvPicPr>
          <p:cNvPr descr="Une image contenant noir, obscurité&#10;&#10;Le contenu généré par l’IA peut être incorrect." id="277" name="Google Shape;277;g39d95ce2960_0_24"/>
          <p:cNvPicPr preferRelativeResize="0"/>
          <p:nvPr/>
        </p:nvPicPr>
        <p:blipFill rotWithShape="1">
          <a:blip r:embed="rId3">
            <a:alphaModFix/>
          </a:blip>
          <a:srcRect b="0" l="0" r="0" t="0"/>
          <a:stretch/>
        </p:blipFill>
        <p:spPr>
          <a:xfrm>
            <a:off x="1175213" y="2867918"/>
            <a:ext cx="1735836" cy="1735836"/>
          </a:xfrm>
          <a:prstGeom prst="rect">
            <a:avLst/>
          </a:prstGeom>
          <a:noFill/>
          <a:ln>
            <a:noFill/>
          </a:ln>
        </p:spPr>
      </p:pic>
      <p:sp>
        <p:nvSpPr>
          <p:cNvPr id="278" name="Google Shape;278;g39d95ce2960_0_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9d95ce2960_0_73"/>
          <p:cNvSpPr txBox="1"/>
          <p:nvPr>
            <p:ph type="title"/>
          </p:nvPr>
        </p:nvSpPr>
        <p:spPr>
          <a:xfrm>
            <a:off x="853375" y="332150"/>
            <a:ext cx="7703400" cy="657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fr-FR" sz="2600"/>
              <a:t>les algorithmes utilisés pour XAI</a:t>
            </a:r>
            <a:endParaRPr sz="2600"/>
          </a:p>
        </p:txBody>
      </p:sp>
      <p:sp>
        <p:nvSpPr>
          <p:cNvPr id="284" name="Google Shape;284;g39d95ce2960_0_7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grpSp>
        <p:nvGrpSpPr>
          <p:cNvPr id="285" name="Google Shape;285;g39d95ce2960_0_73"/>
          <p:cNvGrpSpPr/>
          <p:nvPr/>
        </p:nvGrpSpPr>
        <p:grpSpPr>
          <a:xfrm>
            <a:off x="5322456" y="1264596"/>
            <a:ext cx="1987840" cy="2897167"/>
            <a:chOff x="6796639" y="1540371"/>
            <a:chExt cx="1642843" cy="2897167"/>
          </a:xfrm>
        </p:grpSpPr>
        <p:grpSp>
          <p:nvGrpSpPr>
            <p:cNvPr id="286" name="Google Shape;286;g39d95ce2960_0_73"/>
            <p:cNvGrpSpPr/>
            <p:nvPr/>
          </p:nvGrpSpPr>
          <p:grpSpPr>
            <a:xfrm>
              <a:off x="6796639" y="1540371"/>
              <a:ext cx="1642843" cy="2897167"/>
              <a:chOff x="3723450" y="1800300"/>
              <a:chExt cx="4700552" cy="2709152"/>
            </a:xfrm>
          </p:grpSpPr>
          <p:sp>
            <p:nvSpPr>
              <p:cNvPr id="287" name="Google Shape;287;g39d95ce2960_0_73"/>
              <p:cNvSpPr/>
              <p:nvPr/>
            </p:nvSpPr>
            <p:spPr>
              <a:xfrm>
                <a:off x="3723450" y="1800300"/>
                <a:ext cx="4542900" cy="2551500"/>
              </a:xfrm>
              <a:prstGeom prst="flowChartAlternateProcess">
                <a:avLst/>
              </a:prstGeom>
              <a:solidFill>
                <a:srgbClr val="5BCEC7">
                  <a:alpha val="149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39d95ce2960_0_73"/>
              <p:cNvSpPr/>
              <p:nvPr/>
            </p:nvSpPr>
            <p:spPr>
              <a:xfrm>
                <a:off x="3881102" y="1957952"/>
                <a:ext cx="4542900" cy="2551500"/>
              </a:xfrm>
              <a:prstGeom prst="flowChartAlternateProcess">
                <a:avLst/>
              </a:prstGeom>
              <a:solidFill>
                <a:srgbClr val="5BCEC7">
                  <a:alpha val="149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9" name="Google Shape;289;g39d95ce2960_0_73"/>
            <p:cNvSpPr/>
            <p:nvPr/>
          </p:nvSpPr>
          <p:spPr>
            <a:xfrm>
              <a:off x="7331438" y="1931715"/>
              <a:ext cx="570509" cy="570509"/>
            </a:xfrm>
            <a:custGeom>
              <a:rect b="b" l="l" r="r" t="t"/>
              <a:pathLst>
                <a:path extrusionOk="0" h="27997" w="27997">
                  <a:moveTo>
                    <a:pt x="14005" y="0"/>
                  </a:moveTo>
                  <a:cubicBezTo>
                    <a:pt x="6275" y="0"/>
                    <a:pt x="0" y="6262"/>
                    <a:pt x="0" y="13992"/>
                  </a:cubicBezTo>
                  <a:cubicBezTo>
                    <a:pt x="0" y="21722"/>
                    <a:pt x="6275" y="27996"/>
                    <a:pt x="14005" y="27996"/>
                  </a:cubicBezTo>
                  <a:cubicBezTo>
                    <a:pt x="21735" y="27996"/>
                    <a:pt x="27997" y="21722"/>
                    <a:pt x="27997" y="13992"/>
                  </a:cubicBezTo>
                  <a:cubicBezTo>
                    <a:pt x="27997" y="6262"/>
                    <a:pt x="21735" y="0"/>
                    <a:pt x="1400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0" name="Google Shape;290;g39d95ce2960_0_73"/>
          <p:cNvGrpSpPr/>
          <p:nvPr/>
        </p:nvGrpSpPr>
        <p:grpSpPr>
          <a:xfrm>
            <a:off x="6150896" y="1695689"/>
            <a:ext cx="330944" cy="316274"/>
            <a:chOff x="3220175" y="3503375"/>
            <a:chExt cx="1395800" cy="1333925"/>
          </a:xfrm>
        </p:grpSpPr>
        <p:sp>
          <p:nvSpPr>
            <p:cNvPr id="291" name="Google Shape;291;g39d95ce2960_0_73"/>
            <p:cNvSpPr/>
            <p:nvPr/>
          </p:nvSpPr>
          <p:spPr>
            <a:xfrm>
              <a:off x="3220175" y="3846200"/>
              <a:ext cx="1022650" cy="991100"/>
            </a:xfrm>
            <a:custGeom>
              <a:rect b="b" l="l" r="r" t="t"/>
              <a:pathLst>
                <a:path extrusionOk="0" h="39644" w="40906">
                  <a:moveTo>
                    <a:pt x="22941" y="0"/>
                  </a:moveTo>
                  <a:lnTo>
                    <a:pt x="4952" y="17965"/>
                  </a:lnTo>
                  <a:cubicBezTo>
                    <a:pt x="1" y="22916"/>
                    <a:pt x="1" y="30955"/>
                    <a:pt x="4952" y="35930"/>
                  </a:cubicBezTo>
                  <a:cubicBezTo>
                    <a:pt x="7439" y="38406"/>
                    <a:pt x="10693" y="39643"/>
                    <a:pt x="13943" y="39643"/>
                  </a:cubicBezTo>
                  <a:cubicBezTo>
                    <a:pt x="17194" y="39643"/>
                    <a:pt x="20441" y="38406"/>
                    <a:pt x="22917" y="35930"/>
                  </a:cubicBezTo>
                  <a:lnTo>
                    <a:pt x="40906" y="17965"/>
                  </a:lnTo>
                  <a:lnTo>
                    <a:pt x="22941" y="0"/>
                  </a:lnTo>
                  <a:close/>
                </a:path>
              </a:pathLst>
            </a:custGeom>
            <a:solidFill>
              <a:srgbClr val="A4E4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39d95ce2960_0_73"/>
            <p:cNvSpPr/>
            <p:nvPr/>
          </p:nvSpPr>
          <p:spPr>
            <a:xfrm>
              <a:off x="3233675" y="3846200"/>
              <a:ext cx="784300" cy="766800"/>
            </a:xfrm>
            <a:custGeom>
              <a:rect b="b" l="l" r="r" t="t"/>
              <a:pathLst>
                <a:path extrusionOk="0" h="30672" w="31372">
                  <a:moveTo>
                    <a:pt x="22377" y="0"/>
                  </a:moveTo>
                  <a:lnTo>
                    <a:pt x="4412" y="17965"/>
                  </a:lnTo>
                  <a:cubicBezTo>
                    <a:pt x="1103" y="21274"/>
                    <a:pt x="0" y="26004"/>
                    <a:pt x="1127" y="30244"/>
                  </a:cubicBezTo>
                  <a:cubicBezTo>
                    <a:pt x="2199" y="30529"/>
                    <a:pt x="3300" y="30672"/>
                    <a:pt x="4402" y="30672"/>
                  </a:cubicBezTo>
                  <a:cubicBezTo>
                    <a:pt x="7658" y="30672"/>
                    <a:pt x="10916" y="29426"/>
                    <a:pt x="13406" y="26936"/>
                  </a:cubicBezTo>
                  <a:lnTo>
                    <a:pt x="31371" y="8971"/>
                  </a:lnTo>
                  <a:lnTo>
                    <a:pt x="22377" y="0"/>
                  </a:lnTo>
                  <a:close/>
                </a:path>
              </a:pathLst>
            </a:custGeom>
            <a:solidFill>
              <a:srgbClr val="A4E4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9d95ce2960_0_73"/>
            <p:cNvSpPr/>
            <p:nvPr/>
          </p:nvSpPr>
          <p:spPr>
            <a:xfrm>
              <a:off x="3669300" y="3503375"/>
              <a:ext cx="946675" cy="884800"/>
            </a:xfrm>
            <a:custGeom>
              <a:rect b="b" l="l" r="r" t="t"/>
              <a:pathLst>
                <a:path extrusionOk="0" h="35392" w="37867">
                  <a:moveTo>
                    <a:pt x="23924" y="1"/>
                  </a:moveTo>
                  <a:cubicBezTo>
                    <a:pt x="20674" y="1"/>
                    <a:pt x="17426" y="1238"/>
                    <a:pt x="14951" y="3714"/>
                  </a:cubicBezTo>
                  <a:lnTo>
                    <a:pt x="4952" y="13713"/>
                  </a:lnTo>
                  <a:cubicBezTo>
                    <a:pt x="1" y="18664"/>
                    <a:pt x="1" y="26703"/>
                    <a:pt x="4952" y="31678"/>
                  </a:cubicBezTo>
                  <a:cubicBezTo>
                    <a:pt x="7439" y="34154"/>
                    <a:pt x="10693" y="35391"/>
                    <a:pt x="13946" y="35391"/>
                  </a:cubicBezTo>
                  <a:cubicBezTo>
                    <a:pt x="17200" y="35391"/>
                    <a:pt x="20453" y="34154"/>
                    <a:pt x="22941" y="31678"/>
                  </a:cubicBezTo>
                  <a:lnTo>
                    <a:pt x="32916" y="21679"/>
                  </a:lnTo>
                  <a:cubicBezTo>
                    <a:pt x="37867" y="16728"/>
                    <a:pt x="37867" y="8689"/>
                    <a:pt x="32916" y="3714"/>
                  </a:cubicBezTo>
                  <a:cubicBezTo>
                    <a:pt x="30428" y="1238"/>
                    <a:pt x="27175" y="1"/>
                    <a:pt x="23924" y="1"/>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39d95ce2960_0_73"/>
            <p:cNvSpPr/>
            <p:nvPr/>
          </p:nvSpPr>
          <p:spPr>
            <a:xfrm>
              <a:off x="3669300" y="3521975"/>
              <a:ext cx="711325" cy="773375"/>
            </a:xfrm>
            <a:custGeom>
              <a:rect b="b" l="l" r="r" t="t"/>
              <a:pathLst>
                <a:path extrusionOk="0" h="30935" w="28453">
                  <a:moveTo>
                    <a:pt x="20835" y="0"/>
                  </a:moveTo>
                  <a:cubicBezTo>
                    <a:pt x="19915" y="0"/>
                    <a:pt x="18958" y="221"/>
                    <a:pt x="18015" y="715"/>
                  </a:cubicBezTo>
                  <a:cubicBezTo>
                    <a:pt x="16912" y="1303"/>
                    <a:pt x="15882" y="2038"/>
                    <a:pt x="14951" y="2970"/>
                  </a:cubicBezTo>
                  <a:lnTo>
                    <a:pt x="4952" y="12969"/>
                  </a:lnTo>
                  <a:cubicBezTo>
                    <a:pt x="1" y="17920"/>
                    <a:pt x="1" y="25959"/>
                    <a:pt x="4952" y="30934"/>
                  </a:cubicBezTo>
                  <a:lnTo>
                    <a:pt x="13946" y="21940"/>
                  </a:lnTo>
                  <a:lnTo>
                    <a:pt x="23921" y="11965"/>
                  </a:lnTo>
                  <a:cubicBezTo>
                    <a:pt x="24853" y="11033"/>
                    <a:pt x="25612" y="10004"/>
                    <a:pt x="26201" y="8901"/>
                  </a:cubicBezTo>
                  <a:cubicBezTo>
                    <a:pt x="28452" y="4599"/>
                    <a:pt x="25032" y="0"/>
                    <a:pt x="20835" y="0"/>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39d95ce2960_0_73"/>
            <p:cNvSpPr/>
            <p:nvPr/>
          </p:nvSpPr>
          <p:spPr>
            <a:xfrm>
              <a:off x="3299825" y="3552100"/>
              <a:ext cx="1316150" cy="1285200"/>
            </a:xfrm>
            <a:custGeom>
              <a:rect b="b" l="l" r="r" t="t"/>
              <a:pathLst>
                <a:path extrusionOk="0" h="51408" w="52646">
                  <a:moveTo>
                    <a:pt x="45465" y="0"/>
                  </a:moveTo>
                  <a:lnTo>
                    <a:pt x="45465" y="0"/>
                  </a:lnTo>
                  <a:cubicBezTo>
                    <a:pt x="48577" y="4902"/>
                    <a:pt x="47965" y="11470"/>
                    <a:pt x="43700" y="15759"/>
                  </a:cubicBezTo>
                  <a:lnTo>
                    <a:pt x="33725" y="25734"/>
                  </a:lnTo>
                  <a:lnTo>
                    <a:pt x="26250" y="33210"/>
                  </a:lnTo>
                  <a:lnTo>
                    <a:pt x="15760" y="43699"/>
                  </a:lnTo>
                  <a:cubicBezTo>
                    <a:pt x="13270" y="46175"/>
                    <a:pt x="10012" y="47420"/>
                    <a:pt x="6758" y="47420"/>
                  </a:cubicBezTo>
                  <a:cubicBezTo>
                    <a:pt x="4407" y="47420"/>
                    <a:pt x="2057" y="46770"/>
                    <a:pt x="1" y="45464"/>
                  </a:cubicBezTo>
                  <a:lnTo>
                    <a:pt x="1" y="45464"/>
                  </a:lnTo>
                  <a:cubicBezTo>
                    <a:pt x="491" y="46248"/>
                    <a:pt x="1079" y="47008"/>
                    <a:pt x="1766" y="47694"/>
                  </a:cubicBezTo>
                  <a:cubicBezTo>
                    <a:pt x="4253" y="50170"/>
                    <a:pt x="7507" y="51407"/>
                    <a:pt x="10757" y="51407"/>
                  </a:cubicBezTo>
                  <a:cubicBezTo>
                    <a:pt x="14008" y="51407"/>
                    <a:pt x="17255" y="50170"/>
                    <a:pt x="19731" y="47694"/>
                  </a:cubicBezTo>
                  <a:lnTo>
                    <a:pt x="37720" y="29729"/>
                  </a:lnTo>
                  <a:lnTo>
                    <a:pt x="47695" y="19730"/>
                  </a:lnTo>
                  <a:cubicBezTo>
                    <a:pt x="52646" y="14779"/>
                    <a:pt x="52646" y="6740"/>
                    <a:pt x="47695" y="1765"/>
                  </a:cubicBezTo>
                  <a:cubicBezTo>
                    <a:pt x="47009" y="1079"/>
                    <a:pt x="46249" y="490"/>
                    <a:pt x="45465" y="0"/>
                  </a:cubicBezTo>
                  <a:close/>
                </a:path>
              </a:pathLst>
            </a:custGeom>
            <a:solidFill>
              <a:srgbClr val="000000">
                <a:alpha val="137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39d95ce2960_0_73"/>
            <p:cNvSpPr/>
            <p:nvPr/>
          </p:nvSpPr>
          <p:spPr>
            <a:xfrm>
              <a:off x="4104325" y="3583350"/>
              <a:ext cx="176500" cy="176475"/>
            </a:xfrm>
            <a:custGeom>
              <a:rect b="b" l="l" r="r" t="t"/>
              <a:pathLst>
                <a:path extrusionOk="0" h="7059" w="7060">
                  <a:moveTo>
                    <a:pt x="3530" y="0"/>
                  </a:moveTo>
                  <a:cubicBezTo>
                    <a:pt x="1594" y="0"/>
                    <a:pt x="1" y="1569"/>
                    <a:pt x="1" y="3529"/>
                  </a:cubicBezTo>
                  <a:cubicBezTo>
                    <a:pt x="1" y="5466"/>
                    <a:pt x="1594" y="7059"/>
                    <a:pt x="3530" y="7059"/>
                  </a:cubicBezTo>
                  <a:cubicBezTo>
                    <a:pt x="5491" y="7059"/>
                    <a:pt x="7059" y="5466"/>
                    <a:pt x="7059" y="3529"/>
                  </a:cubicBezTo>
                  <a:cubicBezTo>
                    <a:pt x="7059" y="1569"/>
                    <a:pt x="5491" y="0"/>
                    <a:pt x="3530" y="0"/>
                  </a:cubicBezTo>
                  <a:close/>
                </a:path>
              </a:pathLst>
            </a:custGeom>
            <a:solidFill>
              <a:srgbClr val="FFFFFF">
                <a:alpha val="396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7" name="Google Shape;297;g39d95ce2960_0_73"/>
          <p:cNvSpPr txBox="1"/>
          <p:nvPr/>
        </p:nvSpPr>
        <p:spPr>
          <a:xfrm>
            <a:off x="720000" y="300950"/>
            <a:ext cx="7704000" cy="5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1" sz="3000">
              <a:solidFill>
                <a:srgbClr val="474F85"/>
              </a:solidFill>
              <a:latin typeface="Montserrat"/>
              <a:ea typeface="Montserrat"/>
              <a:cs typeface="Montserrat"/>
              <a:sym typeface="Montserrat"/>
            </a:endParaRPr>
          </a:p>
        </p:txBody>
      </p:sp>
      <p:sp>
        <p:nvSpPr>
          <p:cNvPr id="298" name="Google Shape;298;g39d95ce2960_0_73"/>
          <p:cNvSpPr txBox="1"/>
          <p:nvPr/>
        </p:nvSpPr>
        <p:spPr>
          <a:xfrm>
            <a:off x="5453000" y="2673213"/>
            <a:ext cx="1642800" cy="99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fr-FR">
                <a:latin typeface="Lato"/>
                <a:ea typeface="Lato"/>
                <a:cs typeface="Lato"/>
                <a:sym typeface="Lato"/>
              </a:rPr>
              <a:t>Gradient-weighted Class Activation Mapping</a:t>
            </a:r>
            <a:endParaRPr>
              <a:solidFill>
                <a:srgbClr val="000000"/>
              </a:solidFill>
              <a:latin typeface="Lato"/>
              <a:ea typeface="Lato"/>
              <a:cs typeface="Lato"/>
              <a:sym typeface="Lato"/>
            </a:endParaRPr>
          </a:p>
        </p:txBody>
      </p:sp>
      <p:sp>
        <p:nvSpPr>
          <p:cNvPr id="299" name="Google Shape;299;g39d95ce2960_0_73"/>
          <p:cNvSpPr txBox="1"/>
          <p:nvPr/>
        </p:nvSpPr>
        <p:spPr>
          <a:xfrm>
            <a:off x="5627122" y="2404418"/>
            <a:ext cx="1378500" cy="268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fr-FR" sz="1600">
                <a:solidFill>
                  <a:srgbClr val="474F85"/>
                </a:solidFill>
                <a:latin typeface="Montserrat SemiBold"/>
                <a:ea typeface="Montserrat SemiBold"/>
                <a:cs typeface="Montserrat SemiBold"/>
                <a:sym typeface="Montserrat SemiBold"/>
              </a:rPr>
              <a:t>GradCam</a:t>
            </a:r>
            <a:endParaRPr sz="1600">
              <a:solidFill>
                <a:srgbClr val="474F85"/>
              </a:solidFill>
              <a:latin typeface="Montserrat SemiBold"/>
              <a:ea typeface="Montserrat SemiBold"/>
              <a:cs typeface="Montserrat SemiBold"/>
              <a:sym typeface="Montserrat SemiBold"/>
            </a:endParaRPr>
          </a:p>
        </p:txBody>
      </p:sp>
      <p:pic>
        <p:nvPicPr>
          <p:cNvPr id="300" name="Google Shape;300;g39d95ce2960_0_73">
            <a:hlinkClick action="ppaction://hlinkshowjump?jump=nextslide"/>
          </p:cNvPr>
          <p:cNvPicPr preferRelativeResize="0"/>
          <p:nvPr/>
        </p:nvPicPr>
        <p:blipFill rotWithShape="1">
          <a:blip r:embed="rId3">
            <a:alphaModFix/>
          </a:blip>
          <a:srcRect b="39023" l="11164" r="18532" t="27568"/>
          <a:stretch/>
        </p:blipFill>
        <p:spPr>
          <a:xfrm>
            <a:off x="8542799" y="189011"/>
            <a:ext cx="389100" cy="161972"/>
          </a:xfrm>
          <a:prstGeom prst="rect">
            <a:avLst/>
          </a:prstGeom>
          <a:noFill/>
          <a:ln>
            <a:noFill/>
          </a:ln>
        </p:spPr>
      </p:pic>
      <p:pic>
        <p:nvPicPr>
          <p:cNvPr id="301" name="Google Shape;301;g39d95ce2960_0_73">
            <a:hlinkClick action="ppaction://hlinkshowjump?jump=previousslide"/>
          </p:cNvPr>
          <p:cNvPicPr preferRelativeResize="0"/>
          <p:nvPr/>
        </p:nvPicPr>
        <p:blipFill rotWithShape="1">
          <a:blip r:embed="rId3">
            <a:alphaModFix/>
          </a:blip>
          <a:srcRect b="39023" l="11164" r="18532" t="27568"/>
          <a:stretch/>
        </p:blipFill>
        <p:spPr>
          <a:xfrm flipH="1">
            <a:off x="8042652" y="189011"/>
            <a:ext cx="389100" cy="161972"/>
          </a:xfrm>
          <a:prstGeom prst="rect">
            <a:avLst/>
          </a:prstGeom>
          <a:noFill/>
          <a:ln>
            <a:noFill/>
          </a:ln>
        </p:spPr>
      </p:pic>
      <p:grpSp>
        <p:nvGrpSpPr>
          <p:cNvPr id="302" name="Google Shape;302;g39d95ce2960_0_73"/>
          <p:cNvGrpSpPr/>
          <p:nvPr/>
        </p:nvGrpSpPr>
        <p:grpSpPr>
          <a:xfrm>
            <a:off x="1222864" y="1264591"/>
            <a:ext cx="1987840" cy="2897167"/>
            <a:chOff x="6796639" y="1540371"/>
            <a:chExt cx="1642843" cy="2897167"/>
          </a:xfrm>
        </p:grpSpPr>
        <p:grpSp>
          <p:nvGrpSpPr>
            <p:cNvPr id="303" name="Google Shape;303;g39d95ce2960_0_73"/>
            <p:cNvGrpSpPr/>
            <p:nvPr/>
          </p:nvGrpSpPr>
          <p:grpSpPr>
            <a:xfrm>
              <a:off x="6796639" y="1540371"/>
              <a:ext cx="1642843" cy="2897167"/>
              <a:chOff x="3723450" y="1800300"/>
              <a:chExt cx="4700552" cy="2709152"/>
            </a:xfrm>
          </p:grpSpPr>
          <p:sp>
            <p:nvSpPr>
              <p:cNvPr id="304" name="Google Shape;304;g39d95ce2960_0_73"/>
              <p:cNvSpPr/>
              <p:nvPr/>
            </p:nvSpPr>
            <p:spPr>
              <a:xfrm>
                <a:off x="3723450" y="1800300"/>
                <a:ext cx="4542900" cy="2551500"/>
              </a:xfrm>
              <a:prstGeom prst="flowChartAlternateProcess">
                <a:avLst/>
              </a:prstGeom>
              <a:solidFill>
                <a:srgbClr val="5BCEC7">
                  <a:alpha val="149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39d95ce2960_0_73"/>
              <p:cNvSpPr/>
              <p:nvPr/>
            </p:nvSpPr>
            <p:spPr>
              <a:xfrm>
                <a:off x="3881102" y="1957952"/>
                <a:ext cx="4542900" cy="2551500"/>
              </a:xfrm>
              <a:prstGeom prst="flowChartAlternateProcess">
                <a:avLst/>
              </a:prstGeom>
              <a:solidFill>
                <a:srgbClr val="5BCEC7">
                  <a:alpha val="149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6" name="Google Shape;306;g39d95ce2960_0_73"/>
            <p:cNvSpPr/>
            <p:nvPr/>
          </p:nvSpPr>
          <p:spPr>
            <a:xfrm>
              <a:off x="7331438" y="1931715"/>
              <a:ext cx="570509" cy="570509"/>
            </a:xfrm>
            <a:custGeom>
              <a:rect b="b" l="l" r="r" t="t"/>
              <a:pathLst>
                <a:path extrusionOk="0" h="27997" w="27997">
                  <a:moveTo>
                    <a:pt x="14005" y="0"/>
                  </a:moveTo>
                  <a:cubicBezTo>
                    <a:pt x="6275" y="0"/>
                    <a:pt x="0" y="6262"/>
                    <a:pt x="0" y="13992"/>
                  </a:cubicBezTo>
                  <a:cubicBezTo>
                    <a:pt x="0" y="21722"/>
                    <a:pt x="6275" y="27996"/>
                    <a:pt x="14005" y="27996"/>
                  </a:cubicBezTo>
                  <a:cubicBezTo>
                    <a:pt x="21735" y="27996"/>
                    <a:pt x="27997" y="21722"/>
                    <a:pt x="27997" y="13992"/>
                  </a:cubicBezTo>
                  <a:cubicBezTo>
                    <a:pt x="27997" y="6262"/>
                    <a:pt x="21735" y="0"/>
                    <a:pt x="1400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7" name="Google Shape;307;g39d95ce2960_0_73"/>
          <p:cNvGrpSpPr/>
          <p:nvPr/>
        </p:nvGrpSpPr>
        <p:grpSpPr>
          <a:xfrm>
            <a:off x="2051316" y="1782872"/>
            <a:ext cx="330944" cy="316274"/>
            <a:chOff x="3220175" y="3503375"/>
            <a:chExt cx="1395800" cy="1333925"/>
          </a:xfrm>
        </p:grpSpPr>
        <p:sp>
          <p:nvSpPr>
            <p:cNvPr id="308" name="Google Shape;308;g39d95ce2960_0_73"/>
            <p:cNvSpPr/>
            <p:nvPr/>
          </p:nvSpPr>
          <p:spPr>
            <a:xfrm>
              <a:off x="3220175" y="3846200"/>
              <a:ext cx="1022650" cy="991100"/>
            </a:xfrm>
            <a:custGeom>
              <a:rect b="b" l="l" r="r" t="t"/>
              <a:pathLst>
                <a:path extrusionOk="0" h="39644" w="40906">
                  <a:moveTo>
                    <a:pt x="22941" y="0"/>
                  </a:moveTo>
                  <a:lnTo>
                    <a:pt x="4952" y="17965"/>
                  </a:lnTo>
                  <a:cubicBezTo>
                    <a:pt x="1" y="22916"/>
                    <a:pt x="1" y="30955"/>
                    <a:pt x="4952" y="35930"/>
                  </a:cubicBezTo>
                  <a:cubicBezTo>
                    <a:pt x="7439" y="38406"/>
                    <a:pt x="10693" y="39643"/>
                    <a:pt x="13943" y="39643"/>
                  </a:cubicBezTo>
                  <a:cubicBezTo>
                    <a:pt x="17194" y="39643"/>
                    <a:pt x="20441" y="38406"/>
                    <a:pt x="22917" y="35930"/>
                  </a:cubicBezTo>
                  <a:lnTo>
                    <a:pt x="40906" y="17965"/>
                  </a:lnTo>
                  <a:lnTo>
                    <a:pt x="22941" y="0"/>
                  </a:lnTo>
                  <a:close/>
                </a:path>
              </a:pathLst>
            </a:custGeom>
            <a:solidFill>
              <a:srgbClr val="A4E4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39d95ce2960_0_73"/>
            <p:cNvSpPr/>
            <p:nvPr/>
          </p:nvSpPr>
          <p:spPr>
            <a:xfrm>
              <a:off x="3233675" y="3846200"/>
              <a:ext cx="784300" cy="766800"/>
            </a:xfrm>
            <a:custGeom>
              <a:rect b="b" l="l" r="r" t="t"/>
              <a:pathLst>
                <a:path extrusionOk="0" h="30672" w="31372">
                  <a:moveTo>
                    <a:pt x="22377" y="0"/>
                  </a:moveTo>
                  <a:lnTo>
                    <a:pt x="4412" y="17965"/>
                  </a:lnTo>
                  <a:cubicBezTo>
                    <a:pt x="1103" y="21274"/>
                    <a:pt x="0" y="26004"/>
                    <a:pt x="1127" y="30244"/>
                  </a:cubicBezTo>
                  <a:cubicBezTo>
                    <a:pt x="2199" y="30529"/>
                    <a:pt x="3300" y="30672"/>
                    <a:pt x="4402" y="30672"/>
                  </a:cubicBezTo>
                  <a:cubicBezTo>
                    <a:pt x="7658" y="30672"/>
                    <a:pt x="10916" y="29426"/>
                    <a:pt x="13406" y="26936"/>
                  </a:cubicBezTo>
                  <a:lnTo>
                    <a:pt x="31371" y="8971"/>
                  </a:lnTo>
                  <a:lnTo>
                    <a:pt x="22377" y="0"/>
                  </a:lnTo>
                  <a:close/>
                </a:path>
              </a:pathLst>
            </a:custGeom>
            <a:solidFill>
              <a:srgbClr val="A4E4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9d95ce2960_0_73"/>
            <p:cNvSpPr/>
            <p:nvPr/>
          </p:nvSpPr>
          <p:spPr>
            <a:xfrm>
              <a:off x="3669300" y="3503375"/>
              <a:ext cx="946675" cy="884800"/>
            </a:xfrm>
            <a:custGeom>
              <a:rect b="b" l="l" r="r" t="t"/>
              <a:pathLst>
                <a:path extrusionOk="0" h="35392" w="37867">
                  <a:moveTo>
                    <a:pt x="23924" y="1"/>
                  </a:moveTo>
                  <a:cubicBezTo>
                    <a:pt x="20674" y="1"/>
                    <a:pt x="17426" y="1238"/>
                    <a:pt x="14951" y="3714"/>
                  </a:cubicBezTo>
                  <a:lnTo>
                    <a:pt x="4952" y="13713"/>
                  </a:lnTo>
                  <a:cubicBezTo>
                    <a:pt x="1" y="18664"/>
                    <a:pt x="1" y="26703"/>
                    <a:pt x="4952" y="31678"/>
                  </a:cubicBezTo>
                  <a:cubicBezTo>
                    <a:pt x="7439" y="34154"/>
                    <a:pt x="10693" y="35391"/>
                    <a:pt x="13946" y="35391"/>
                  </a:cubicBezTo>
                  <a:cubicBezTo>
                    <a:pt x="17200" y="35391"/>
                    <a:pt x="20453" y="34154"/>
                    <a:pt x="22941" y="31678"/>
                  </a:cubicBezTo>
                  <a:lnTo>
                    <a:pt x="32916" y="21679"/>
                  </a:lnTo>
                  <a:cubicBezTo>
                    <a:pt x="37867" y="16728"/>
                    <a:pt x="37867" y="8689"/>
                    <a:pt x="32916" y="3714"/>
                  </a:cubicBezTo>
                  <a:cubicBezTo>
                    <a:pt x="30428" y="1238"/>
                    <a:pt x="27175" y="1"/>
                    <a:pt x="23924" y="1"/>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g39d95ce2960_0_73"/>
            <p:cNvSpPr/>
            <p:nvPr/>
          </p:nvSpPr>
          <p:spPr>
            <a:xfrm>
              <a:off x="3669300" y="3521975"/>
              <a:ext cx="711325" cy="773375"/>
            </a:xfrm>
            <a:custGeom>
              <a:rect b="b" l="l" r="r" t="t"/>
              <a:pathLst>
                <a:path extrusionOk="0" h="30935" w="28453">
                  <a:moveTo>
                    <a:pt x="20835" y="0"/>
                  </a:moveTo>
                  <a:cubicBezTo>
                    <a:pt x="19915" y="0"/>
                    <a:pt x="18958" y="221"/>
                    <a:pt x="18015" y="715"/>
                  </a:cubicBezTo>
                  <a:cubicBezTo>
                    <a:pt x="16912" y="1303"/>
                    <a:pt x="15882" y="2038"/>
                    <a:pt x="14951" y="2970"/>
                  </a:cubicBezTo>
                  <a:lnTo>
                    <a:pt x="4952" y="12969"/>
                  </a:lnTo>
                  <a:cubicBezTo>
                    <a:pt x="1" y="17920"/>
                    <a:pt x="1" y="25959"/>
                    <a:pt x="4952" y="30934"/>
                  </a:cubicBezTo>
                  <a:lnTo>
                    <a:pt x="13946" y="21940"/>
                  </a:lnTo>
                  <a:lnTo>
                    <a:pt x="23921" y="11965"/>
                  </a:lnTo>
                  <a:cubicBezTo>
                    <a:pt x="24853" y="11033"/>
                    <a:pt x="25612" y="10004"/>
                    <a:pt x="26201" y="8901"/>
                  </a:cubicBezTo>
                  <a:cubicBezTo>
                    <a:pt x="28452" y="4599"/>
                    <a:pt x="25032" y="0"/>
                    <a:pt x="20835" y="0"/>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39d95ce2960_0_73"/>
            <p:cNvSpPr/>
            <p:nvPr/>
          </p:nvSpPr>
          <p:spPr>
            <a:xfrm>
              <a:off x="3299825" y="3552100"/>
              <a:ext cx="1316150" cy="1285200"/>
            </a:xfrm>
            <a:custGeom>
              <a:rect b="b" l="l" r="r" t="t"/>
              <a:pathLst>
                <a:path extrusionOk="0" h="51408" w="52646">
                  <a:moveTo>
                    <a:pt x="45465" y="0"/>
                  </a:moveTo>
                  <a:lnTo>
                    <a:pt x="45465" y="0"/>
                  </a:lnTo>
                  <a:cubicBezTo>
                    <a:pt x="48577" y="4902"/>
                    <a:pt x="47965" y="11470"/>
                    <a:pt x="43700" y="15759"/>
                  </a:cubicBezTo>
                  <a:lnTo>
                    <a:pt x="33725" y="25734"/>
                  </a:lnTo>
                  <a:lnTo>
                    <a:pt x="26250" y="33210"/>
                  </a:lnTo>
                  <a:lnTo>
                    <a:pt x="15760" y="43699"/>
                  </a:lnTo>
                  <a:cubicBezTo>
                    <a:pt x="13270" y="46175"/>
                    <a:pt x="10012" y="47420"/>
                    <a:pt x="6758" y="47420"/>
                  </a:cubicBezTo>
                  <a:cubicBezTo>
                    <a:pt x="4407" y="47420"/>
                    <a:pt x="2057" y="46770"/>
                    <a:pt x="1" y="45464"/>
                  </a:cubicBezTo>
                  <a:lnTo>
                    <a:pt x="1" y="45464"/>
                  </a:lnTo>
                  <a:cubicBezTo>
                    <a:pt x="491" y="46248"/>
                    <a:pt x="1079" y="47008"/>
                    <a:pt x="1766" y="47694"/>
                  </a:cubicBezTo>
                  <a:cubicBezTo>
                    <a:pt x="4253" y="50170"/>
                    <a:pt x="7507" y="51407"/>
                    <a:pt x="10757" y="51407"/>
                  </a:cubicBezTo>
                  <a:cubicBezTo>
                    <a:pt x="14008" y="51407"/>
                    <a:pt x="17255" y="50170"/>
                    <a:pt x="19731" y="47694"/>
                  </a:cubicBezTo>
                  <a:lnTo>
                    <a:pt x="37720" y="29729"/>
                  </a:lnTo>
                  <a:lnTo>
                    <a:pt x="47695" y="19730"/>
                  </a:lnTo>
                  <a:cubicBezTo>
                    <a:pt x="52646" y="14779"/>
                    <a:pt x="52646" y="6740"/>
                    <a:pt x="47695" y="1765"/>
                  </a:cubicBezTo>
                  <a:cubicBezTo>
                    <a:pt x="47009" y="1079"/>
                    <a:pt x="46249" y="490"/>
                    <a:pt x="45465" y="0"/>
                  </a:cubicBezTo>
                  <a:close/>
                </a:path>
              </a:pathLst>
            </a:custGeom>
            <a:solidFill>
              <a:srgbClr val="000000">
                <a:alpha val="1373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9d95ce2960_0_73"/>
            <p:cNvSpPr/>
            <p:nvPr/>
          </p:nvSpPr>
          <p:spPr>
            <a:xfrm>
              <a:off x="4104325" y="3583350"/>
              <a:ext cx="176500" cy="176475"/>
            </a:xfrm>
            <a:custGeom>
              <a:rect b="b" l="l" r="r" t="t"/>
              <a:pathLst>
                <a:path extrusionOk="0" h="7059" w="7060">
                  <a:moveTo>
                    <a:pt x="3530" y="0"/>
                  </a:moveTo>
                  <a:cubicBezTo>
                    <a:pt x="1594" y="0"/>
                    <a:pt x="1" y="1569"/>
                    <a:pt x="1" y="3529"/>
                  </a:cubicBezTo>
                  <a:cubicBezTo>
                    <a:pt x="1" y="5466"/>
                    <a:pt x="1594" y="7059"/>
                    <a:pt x="3530" y="7059"/>
                  </a:cubicBezTo>
                  <a:cubicBezTo>
                    <a:pt x="5491" y="7059"/>
                    <a:pt x="7059" y="5466"/>
                    <a:pt x="7059" y="3529"/>
                  </a:cubicBezTo>
                  <a:cubicBezTo>
                    <a:pt x="7059" y="1569"/>
                    <a:pt x="5491" y="0"/>
                    <a:pt x="3530" y="0"/>
                  </a:cubicBezTo>
                  <a:close/>
                </a:path>
              </a:pathLst>
            </a:custGeom>
            <a:solidFill>
              <a:srgbClr val="FFFFFF">
                <a:alpha val="3961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4" name="Google Shape;314;g39d95ce2960_0_73"/>
          <p:cNvSpPr txBox="1"/>
          <p:nvPr/>
        </p:nvSpPr>
        <p:spPr>
          <a:xfrm>
            <a:off x="1353420" y="2760395"/>
            <a:ext cx="1642800" cy="99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fr-FR">
                <a:latin typeface="Lato"/>
                <a:ea typeface="Lato"/>
                <a:cs typeface="Lato"/>
                <a:sym typeface="Lato"/>
              </a:rPr>
              <a:t>(Local Interpretable Model-agnostic Explanations)</a:t>
            </a:r>
            <a:endParaRPr>
              <a:solidFill>
                <a:srgbClr val="000000"/>
              </a:solidFill>
              <a:latin typeface="Lato"/>
              <a:ea typeface="Lato"/>
              <a:cs typeface="Lato"/>
              <a:sym typeface="Lato"/>
            </a:endParaRPr>
          </a:p>
        </p:txBody>
      </p:sp>
      <p:sp>
        <p:nvSpPr>
          <p:cNvPr id="315" name="Google Shape;315;g39d95ce2960_0_73"/>
          <p:cNvSpPr txBox="1"/>
          <p:nvPr/>
        </p:nvSpPr>
        <p:spPr>
          <a:xfrm>
            <a:off x="1527542" y="2491600"/>
            <a:ext cx="1378500" cy="268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fr-FR" sz="1600">
                <a:solidFill>
                  <a:srgbClr val="474F85"/>
                </a:solidFill>
                <a:latin typeface="Montserrat SemiBold"/>
                <a:ea typeface="Montserrat SemiBold"/>
                <a:cs typeface="Montserrat SemiBold"/>
                <a:sym typeface="Montserrat SemiBold"/>
              </a:rPr>
              <a:t>LIME</a:t>
            </a:r>
            <a:endParaRPr sz="1600">
              <a:solidFill>
                <a:srgbClr val="474F85"/>
              </a:solidFill>
              <a:latin typeface="Montserrat SemiBold"/>
              <a:ea typeface="Montserrat SemiBold"/>
              <a:cs typeface="Montserrat SemiBold"/>
              <a:sym typeface="Montserrat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9d95ce2960_0_63"/>
          <p:cNvSpPr txBox="1"/>
          <p:nvPr>
            <p:ph type="title"/>
          </p:nvPr>
        </p:nvSpPr>
        <p:spPr>
          <a:xfrm>
            <a:off x="853375" y="332150"/>
            <a:ext cx="7703400" cy="657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fr-FR" sz="2600"/>
              <a:t>Différentes visualisations en utilisant Lime</a:t>
            </a:r>
            <a:endParaRPr sz="2600"/>
          </a:p>
        </p:txBody>
      </p:sp>
      <p:sp>
        <p:nvSpPr>
          <p:cNvPr id="321" name="Google Shape;321;g39d95ce2960_0_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pic>
        <p:nvPicPr>
          <p:cNvPr id="322" name="Google Shape;322;g39d95ce2960_0_63" title="téléchargement (6).png"/>
          <p:cNvPicPr preferRelativeResize="0"/>
          <p:nvPr/>
        </p:nvPicPr>
        <p:blipFill>
          <a:blip r:embed="rId3">
            <a:alphaModFix/>
          </a:blip>
          <a:stretch>
            <a:fillRect/>
          </a:stretch>
        </p:blipFill>
        <p:spPr>
          <a:xfrm>
            <a:off x="2991687" y="1250550"/>
            <a:ext cx="2500925" cy="2642376"/>
          </a:xfrm>
          <a:prstGeom prst="rect">
            <a:avLst/>
          </a:prstGeom>
          <a:noFill/>
          <a:ln>
            <a:noFill/>
          </a:ln>
        </p:spPr>
      </p:pic>
      <p:pic>
        <p:nvPicPr>
          <p:cNvPr id="323" name="Google Shape;323;g39d95ce2960_0_63" title="COVID-2002.png"/>
          <p:cNvPicPr preferRelativeResize="0"/>
          <p:nvPr/>
        </p:nvPicPr>
        <p:blipFill>
          <a:blip r:embed="rId4">
            <a:alphaModFix/>
          </a:blip>
          <a:stretch>
            <a:fillRect/>
          </a:stretch>
        </p:blipFill>
        <p:spPr>
          <a:xfrm>
            <a:off x="179875" y="1321288"/>
            <a:ext cx="2500925" cy="2500925"/>
          </a:xfrm>
          <a:prstGeom prst="rect">
            <a:avLst/>
          </a:prstGeom>
          <a:noFill/>
          <a:ln>
            <a:noFill/>
          </a:ln>
        </p:spPr>
      </p:pic>
      <p:pic>
        <p:nvPicPr>
          <p:cNvPr id="324" name="Google Shape;324;g39d95ce2960_0_63" title="téléchargement.png"/>
          <p:cNvPicPr preferRelativeResize="0"/>
          <p:nvPr/>
        </p:nvPicPr>
        <p:blipFill>
          <a:blip r:embed="rId5">
            <a:alphaModFix/>
          </a:blip>
          <a:stretch>
            <a:fillRect/>
          </a:stretch>
        </p:blipFill>
        <p:spPr>
          <a:xfrm>
            <a:off x="5803500" y="1196225"/>
            <a:ext cx="3305304" cy="2751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9dc9214267_2_6"/>
          <p:cNvSpPr txBox="1"/>
          <p:nvPr>
            <p:ph type="title"/>
          </p:nvPr>
        </p:nvSpPr>
        <p:spPr>
          <a:xfrm>
            <a:off x="853375" y="108230"/>
            <a:ext cx="7703400" cy="657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fr-FR" sz="2600"/>
              <a:t>Différentes visualisations en utilisant Lime</a:t>
            </a:r>
            <a:endParaRPr sz="2600"/>
          </a:p>
        </p:txBody>
      </p:sp>
      <p:sp>
        <p:nvSpPr>
          <p:cNvPr id="330" name="Google Shape;330;g39dc9214267_2_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pic>
        <p:nvPicPr>
          <p:cNvPr id="331" name="Google Shape;331;g39dc9214267_2_6" title="téléchargement (3).png"/>
          <p:cNvPicPr preferRelativeResize="0"/>
          <p:nvPr/>
        </p:nvPicPr>
        <p:blipFill>
          <a:blip r:embed="rId3">
            <a:alphaModFix/>
          </a:blip>
          <a:stretch>
            <a:fillRect/>
          </a:stretch>
        </p:blipFill>
        <p:spPr>
          <a:xfrm>
            <a:off x="2978488" y="782681"/>
            <a:ext cx="2706975" cy="1987995"/>
          </a:xfrm>
          <a:prstGeom prst="rect">
            <a:avLst/>
          </a:prstGeom>
          <a:noFill/>
          <a:ln>
            <a:noFill/>
          </a:ln>
        </p:spPr>
      </p:pic>
      <p:pic>
        <p:nvPicPr>
          <p:cNvPr id="332" name="Google Shape;332;g39dc9214267_2_6" title="téléchargement (2).png"/>
          <p:cNvPicPr preferRelativeResize="0"/>
          <p:nvPr/>
        </p:nvPicPr>
        <p:blipFill>
          <a:blip r:embed="rId4">
            <a:alphaModFix/>
          </a:blip>
          <a:stretch>
            <a:fillRect/>
          </a:stretch>
        </p:blipFill>
        <p:spPr>
          <a:xfrm>
            <a:off x="6310275" y="1588199"/>
            <a:ext cx="2486600" cy="2338976"/>
          </a:xfrm>
          <a:prstGeom prst="rect">
            <a:avLst/>
          </a:prstGeom>
          <a:noFill/>
          <a:ln>
            <a:noFill/>
          </a:ln>
        </p:spPr>
      </p:pic>
      <p:pic>
        <p:nvPicPr>
          <p:cNvPr id="333" name="Google Shape;333;g39dc9214267_2_6" title="téléchargement (1).png"/>
          <p:cNvPicPr preferRelativeResize="0"/>
          <p:nvPr/>
        </p:nvPicPr>
        <p:blipFill>
          <a:blip r:embed="rId5">
            <a:alphaModFix/>
          </a:blip>
          <a:stretch>
            <a:fillRect/>
          </a:stretch>
        </p:blipFill>
        <p:spPr>
          <a:xfrm>
            <a:off x="977900" y="3008905"/>
            <a:ext cx="3877233" cy="1928850"/>
          </a:xfrm>
          <a:prstGeom prst="rect">
            <a:avLst/>
          </a:prstGeom>
          <a:noFill/>
          <a:ln>
            <a:noFill/>
          </a:ln>
        </p:spPr>
      </p:pic>
      <p:pic>
        <p:nvPicPr>
          <p:cNvPr id="334" name="Google Shape;334;g39dc9214267_2_6" title="COVID-2002.png"/>
          <p:cNvPicPr preferRelativeResize="0"/>
          <p:nvPr/>
        </p:nvPicPr>
        <p:blipFill>
          <a:blip r:embed="rId6">
            <a:alphaModFix/>
          </a:blip>
          <a:stretch>
            <a:fillRect/>
          </a:stretch>
        </p:blipFill>
        <p:spPr>
          <a:xfrm>
            <a:off x="539925" y="812243"/>
            <a:ext cx="1928850" cy="1928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9d95ce2960_0_68"/>
          <p:cNvSpPr txBox="1"/>
          <p:nvPr>
            <p:ph type="title"/>
          </p:nvPr>
        </p:nvSpPr>
        <p:spPr>
          <a:xfrm>
            <a:off x="853375" y="332150"/>
            <a:ext cx="7703400" cy="657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fr-FR" sz="2600"/>
              <a:t>Comparaison entre VGG19 et ResNet</a:t>
            </a:r>
            <a:endParaRPr sz="2600"/>
          </a:p>
        </p:txBody>
      </p:sp>
      <p:sp>
        <p:nvSpPr>
          <p:cNvPr id="340" name="Google Shape;340;g39d95ce2960_0_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fr-FR"/>
              <a:t>‹#›</a:t>
            </a:fld>
            <a:endParaRPr/>
          </a:p>
        </p:txBody>
      </p:sp>
      <p:pic>
        <p:nvPicPr>
          <p:cNvPr id="341" name="Google Shape;341;g39d95ce2960_0_68" title="téléchargement (1).png"/>
          <p:cNvPicPr preferRelativeResize="0"/>
          <p:nvPr/>
        </p:nvPicPr>
        <p:blipFill>
          <a:blip r:embed="rId3">
            <a:alphaModFix/>
          </a:blip>
          <a:stretch>
            <a:fillRect/>
          </a:stretch>
        </p:blipFill>
        <p:spPr>
          <a:xfrm>
            <a:off x="6418421" y="1127648"/>
            <a:ext cx="2493104" cy="2612325"/>
          </a:xfrm>
          <a:prstGeom prst="rect">
            <a:avLst/>
          </a:prstGeom>
          <a:noFill/>
          <a:ln>
            <a:noFill/>
          </a:ln>
        </p:spPr>
      </p:pic>
      <p:pic>
        <p:nvPicPr>
          <p:cNvPr id="342" name="Google Shape;342;g39d95ce2960_0_68" title="téléchargement.png"/>
          <p:cNvPicPr preferRelativeResize="0"/>
          <p:nvPr/>
        </p:nvPicPr>
        <p:blipFill>
          <a:blip r:embed="rId4">
            <a:alphaModFix/>
          </a:blip>
          <a:stretch>
            <a:fillRect/>
          </a:stretch>
        </p:blipFill>
        <p:spPr>
          <a:xfrm>
            <a:off x="3394036" y="1127650"/>
            <a:ext cx="2465451" cy="2612325"/>
          </a:xfrm>
          <a:prstGeom prst="rect">
            <a:avLst/>
          </a:prstGeom>
          <a:noFill/>
          <a:ln>
            <a:noFill/>
          </a:ln>
        </p:spPr>
      </p:pic>
      <p:sp>
        <p:nvSpPr>
          <p:cNvPr id="343" name="Google Shape;343;g39d95ce2960_0_68"/>
          <p:cNvSpPr txBox="1"/>
          <p:nvPr/>
        </p:nvSpPr>
        <p:spPr>
          <a:xfrm>
            <a:off x="422750" y="3878175"/>
            <a:ext cx="63327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FR" sz="1100">
                <a:solidFill>
                  <a:schemeClr val="dk2"/>
                </a:solidFill>
              </a:rPr>
              <a:t>🔴 </a:t>
            </a:r>
            <a:r>
              <a:rPr b="1" lang="fr-FR" sz="1100">
                <a:solidFill>
                  <a:schemeClr val="dk2"/>
                </a:solidFill>
              </a:rPr>
              <a:t>Zones rouges / chaudes</a:t>
            </a:r>
            <a:r>
              <a:rPr lang="fr-FR" sz="1100">
                <a:solidFill>
                  <a:schemeClr val="dk2"/>
                </a:solidFill>
              </a:rPr>
              <a:t> → régions </a:t>
            </a:r>
            <a:r>
              <a:rPr b="1" lang="fr-FR" sz="1100">
                <a:solidFill>
                  <a:schemeClr val="dk2"/>
                </a:solidFill>
              </a:rPr>
              <a:t>fortement importantes</a:t>
            </a:r>
            <a:r>
              <a:rPr lang="fr-FR" sz="1100">
                <a:solidFill>
                  <a:schemeClr val="dk2"/>
                </a:solidFill>
              </a:rPr>
              <a:t> pour la prédiction.</a:t>
            </a:r>
            <a:br>
              <a:rPr lang="fr-FR" sz="1100">
                <a:solidFill>
                  <a:schemeClr val="dk2"/>
                </a:solidFill>
              </a:rPr>
            </a:br>
            <a:endParaRPr sz="1100">
              <a:solidFill>
                <a:schemeClr val="dk2"/>
              </a:solidFill>
            </a:endParaRPr>
          </a:p>
          <a:p>
            <a:pPr indent="0" lvl="0" marL="0" rtl="0" algn="l">
              <a:spcBef>
                <a:spcPts val="0"/>
              </a:spcBef>
              <a:spcAft>
                <a:spcPts val="0"/>
              </a:spcAft>
              <a:buNone/>
            </a:pPr>
            <a:r>
              <a:rPr lang="fr-FR" sz="1100">
                <a:solidFill>
                  <a:schemeClr val="dk2"/>
                </a:solidFill>
              </a:rPr>
              <a:t>🟡 </a:t>
            </a:r>
            <a:r>
              <a:rPr b="1" lang="fr-FR" sz="1100">
                <a:solidFill>
                  <a:schemeClr val="dk2"/>
                </a:solidFill>
              </a:rPr>
              <a:t>Zones jaunes/oranges</a:t>
            </a:r>
            <a:r>
              <a:rPr lang="fr-FR" sz="1100">
                <a:solidFill>
                  <a:schemeClr val="dk2"/>
                </a:solidFill>
              </a:rPr>
              <a:t> → régions </a:t>
            </a:r>
            <a:r>
              <a:rPr b="1" lang="fr-FR" sz="1100">
                <a:solidFill>
                  <a:schemeClr val="dk2"/>
                </a:solidFill>
              </a:rPr>
              <a:t>modérément importantes</a:t>
            </a:r>
            <a:r>
              <a:rPr lang="fr-FR" sz="1100">
                <a:solidFill>
                  <a:schemeClr val="dk2"/>
                </a:solidFill>
              </a:rPr>
              <a:t>.</a:t>
            </a:r>
            <a:br>
              <a:rPr lang="fr-FR" sz="1100">
                <a:solidFill>
                  <a:schemeClr val="dk2"/>
                </a:solidFill>
              </a:rPr>
            </a:br>
            <a:endParaRPr sz="1100">
              <a:solidFill>
                <a:schemeClr val="dk2"/>
              </a:solidFill>
            </a:endParaRPr>
          </a:p>
          <a:p>
            <a:pPr indent="0" lvl="0" marL="0" rtl="0" algn="l">
              <a:spcBef>
                <a:spcPts val="0"/>
              </a:spcBef>
              <a:spcAft>
                <a:spcPts val="0"/>
              </a:spcAft>
              <a:buNone/>
            </a:pPr>
            <a:r>
              <a:rPr lang="fr-FR" sz="1100">
                <a:solidFill>
                  <a:schemeClr val="dk2"/>
                </a:solidFill>
              </a:rPr>
              <a:t>🔵 </a:t>
            </a:r>
            <a:r>
              <a:rPr b="1" lang="fr-FR" sz="1100">
                <a:solidFill>
                  <a:schemeClr val="dk2"/>
                </a:solidFill>
              </a:rPr>
              <a:t>Zones bleues / froides</a:t>
            </a:r>
            <a:r>
              <a:rPr lang="fr-FR" sz="1100">
                <a:solidFill>
                  <a:schemeClr val="dk2"/>
                </a:solidFill>
              </a:rPr>
              <a:t> → régions </a:t>
            </a:r>
            <a:r>
              <a:rPr b="1" lang="fr-FR" sz="1100">
                <a:solidFill>
                  <a:schemeClr val="dk2"/>
                </a:solidFill>
              </a:rPr>
              <a:t>peu ou pas importantes</a:t>
            </a:r>
            <a:r>
              <a:rPr lang="fr-FR" sz="1100">
                <a:solidFill>
                  <a:schemeClr val="dk2"/>
                </a:solidFill>
              </a:rPr>
              <a:t> pour la décision.</a:t>
            </a:r>
            <a:endParaRPr sz="1100">
              <a:solidFill>
                <a:schemeClr val="dk2"/>
              </a:solidFill>
            </a:endParaRPr>
          </a:p>
        </p:txBody>
      </p:sp>
      <p:pic>
        <p:nvPicPr>
          <p:cNvPr id="344" name="Google Shape;344;g39d95ce2960_0_68" title="COVID-2002.png"/>
          <p:cNvPicPr preferRelativeResize="0"/>
          <p:nvPr/>
        </p:nvPicPr>
        <p:blipFill>
          <a:blip r:embed="rId5">
            <a:alphaModFix/>
          </a:blip>
          <a:stretch>
            <a:fillRect/>
          </a:stretch>
        </p:blipFill>
        <p:spPr>
          <a:xfrm>
            <a:off x="334175" y="1236850"/>
            <a:ext cx="2500925" cy="2500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9dc9214267_2_42"/>
          <p:cNvSpPr txBox="1"/>
          <p:nvPr>
            <p:ph type="title"/>
          </p:nvPr>
        </p:nvSpPr>
        <p:spPr>
          <a:xfrm>
            <a:off x="720000" y="539743"/>
            <a:ext cx="7704000" cy="57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SzPts val="3000"/>
              <a:buNone/>
            </a:pPr>
            <a:r>
              <a:rPr lang="fr-FR">
                <a:solidFill>
                  <a:srgbClr val="22726D"/>
                </a:solidFill>
                <a:latin typeface="Fira Sans Condensed"/>
                <a:ea typeface="Fira Sans Condensed"/>
                <a:cs typeface="Fira Sans Condensed"/>
                <a:sym typeface="Fira Sans Condensed"/>
              </a:rPr>
              <a:t>Conclusion</a:t>
            </a:r>
            <a:endParaRPr>
              <a:solidFill>
                <a:schemeClr val="accent3"/>
              </a:solidFill>
            </a:endParaRPr>
          </a:p>
        </p:txBody>
      </p:sp>
      <p:sp>
        <p:nvSpPr>
          <p:cNvPr id="350" name="Google Shape;350;g39dc9214267_2_42"/>
          <p:cNvSpPr txBox="1"/>
          <p:nvPr/>
        </p:nvSpPr>
        <p:spPr>
          <a:xfrm>
            <a:off x="830400" y="1362279"/>
            <a:ext cx="7483200" cy="3140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dk2"/>
              </a:buClr>
              <a:buSzPts val="1600"/>
              <a:buChar char="●"/>
            </a:pPr>
            <a:r>
              <a:rPr lang="fr-FR" sz="1600">
                <a:solidFill>
                  <a:schemeClr val="dk2"/>
                </a:solidFill>
              </a:rPr>
              <a:t>LIME explique la prédiction de manière locale : il analyse l’image en la découpant en superpixels et montre quelles zones précises ont influencé la décision pour une instance donnée. </a:t>
            </a:r>
            <a:endParaRPr sz="1600">
              <a:solidFill>
                <a:schemeClr val="dk2"/>
              </a:solidFill>
            </a:endParaRPr>
          </a:p>
          <a:p>
            <a:pPr indent="0" lvl="0" marL="0" marR="0" rtl="0" algn="l">
              <a:lnSpc>
                <a:spcPct val="100000"/>
              </a:lnSpc>
              <a:spcBef>
                <a:spcPts val="0"/>
              </a:spcBef>
              <a:spcAft>
                <a:spcPts val="0"/>
              </a:spcAft>
              <a:buNone/>
            </a:pPr>
            <a:r>
              <a:t/>
            </a:r>
            <a:endParaRPr sz="1600">
              <a:solidFill>
                <a:schemeClr val="dk2"/>
              </a:solidFill>
            </a:endParaRPr>
          </a:p>
          <a:p>
            <a:pPr indent="-330200" lvl="0" marL="457200" marR="0" rtl="0" algn="l">
              <a:lnSpc>
                <a:spcPct val="100000"/>
              </a:lnSpc>
              <a:spcBef>
                <a:spcPts val="0"/>
              </a:spcBef>
              <a:spcAft>
                <a:spcPts val="0"/>
              </a:spcAft>
              <a:buClr>
                <a:schemeClr val="dk2"/>
              </a:buClr>
              <a:buSzPts val="1600"/>
              <a:buChar char="●"/>
            </a:pPr>
            <a:r>
              <a:rPr lang="fr-FR" sz="1600">
                <a:solidFill>
                  <a:schemeClr val="dk2"/>
                </a:solidFill>
              </a:rPr>
              <a:t>Grad-CAM, en revanche, se base directement sur les gradients internes du réseau de neurones pour identifier les régions visuellement importantes dans la dernière couche convolutionnelle. Il donne une vision globale et intuitive de l’attention du modèle.</a:t>
            </a:r>
            <a:endParaRPr sz="1600">
              <a:solidFill>
                <a:schemeClr val="dk2"/>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2"/>
              </a:solidFill>
            </a:endParaRPr>
          </a:p>
          <a:p>
            <a:pPr indent="0" lvl="0" marL="0" marR="0" rtl="0" algn="l">
              <a:lnSpc>
                <a:spcPct val="100000"/>
              </a:lnSpc>
              <a:spcBef>
                <a:spcPts val="0"/>
              </a:spcBef>
              <a:spcAft>
                <a:spcPts val="0"/>
              </a:spcAft>
              <a:buClr>
                <a:srgbClr val="000000"/>
              </a:buClr>
              <a:buSzPts val="1600"/>
              <a:buFont typeface="Arial"/>
              <a:buNone/>
            </a:pPr>
            <a:r>
              <a:rPr lang="fr-FR" sz="1600">
                <a:solidFill>
                  <a:schemeClr val="dk2"/>
                </a:solidFill>
              </a:rPr>
              <a:t>Ainsi, LIME permet de comprendre pourquoi le modèle a pris une décision spécifique, tandis que Grad-CAM montre où le modèle regarde pour faire cette décision.</a:t>
            </a:r>
            <a:endParaRPr sz="1600">
              <a:solidFill>
                <a:schemeClr val="dk2"/>
              </a:solidFill>
            </a:endParaRPr>
          </a:p>
        </p:txBody>
      </p:sp>
      <p:sp>
        <p:nvSpPr>
          <p:cNvPr id="351" name="Google Shape;351;g39dc9214267_2_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2"/>
          <p:cNvSpPr txBox="1"/>
          <p:nvPr>
            <p:ph type="title"/>
          </p:nvPr>
        </p:nvSpPr>
        <p:spPr>
          <a:xfrm>
            <a:off x="784025" y="1693550"/>
            <a:ext cx="7704000" cy="572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000"/>
              <a:buNone/>
            </a:pPr>
            <a:r>
              <a:rPr lang="fr-FR" sz="5700"/>
              <a:t>Merci pour votre attention !</a:t>
            </a:r>
            <a:endParaRPr sz="5700"/>
          </a:p>
        </p:txBody>
      </p:sp>
      <p:sp>
        <p:nvSpPr>
          <p:cNvPr id="357" name="Google Shape;357;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Interactive Clinical Case by Slidesgo">
  <a:themeElements>
    <a:clrScheme name="Simple Light">
      <a:dk1>
        <a:srgbClr val="474F85"/>
      </a:dk1>
      <a:lt1>
        <a:srgbClr val="FFFFFF"/>
      </a:lt1>
      <a:dk2>
        <a:srgbClr val="000000"/>
      </a:dk2>
      <a:lt2>
        <a:srgbClr val="E6F8F6"/>
      </a:lt2>
      <a:accent1>
        <a:srgbClr val="5BCEC7"/>
      </a:accent1>
      <a:accent2>
        <a:srgbClr val="A4E4E0"/>
      </a:accent2>
      <a:accent3>
        <a:srgbClr val="76AAA7"/>
      </a:accent3>
      <a:accent4>
        <a:srgbClr val="455A64"/>
      </a:accent4>
      <a:accent5>
        <a:srgbClr val="F2F2F2"/>
      </a:accent5>
      <a:accent6>
        <a:srgbClr val="CFCFCF"/>
      </a:accent6>
      <a:hlink>
        <a:srgbClr val="474F8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